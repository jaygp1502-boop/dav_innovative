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we took the BigMart sales dataset, cleaned it in KNIME, built regression and classification models, and visualized the cleaned data in Tableau.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business question first. The project is a full workflow: data preparation, modeling and visualization, built so each stage uses the same cleaned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one product sold at one outlet. Product attributes describe the item, outlet attributes describe the store, and Item_Outlet_Sales is the revenue we want to understand. Item_MRP is the list price; Item_Visibility is the share of display area given to the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and charts both mislead if the labels are inconsistent or values are missing. Every fix was done with a KNIME node so the whole process can be re-run on new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cleaned and feature-engineered table is exported once for Tableau, and the same table continues into encoding and scaling for the two models. That way the dashboards and the models describe identical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Engineered features were created before the Tableau export, so the dashboards can use them too. The binned tier keeps the original numeric sales column alongside it, which the regression branch needs. Each branch drops the other branch's target to avoid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prediction is naturally a regression problem. Turning sales into three tiers adds a second view that is easier to act on and lets us show confusion matrices and class-level metrics. Using both gives technical depth and a model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bracketed placeholders with the R squared, RMSE and MAE from your Numeric Scorer node. R squared is the share of sales variation the model explains; RMSE and MAE are the error size in sales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three equal tiers a random guess gets about one third right, so 56.4 percent shows the model picks up real signal. Cohen's kappa of 0.347 measures agreement beyond chance. Setup: 80/20 stratified split on the tier, Random Forest Learner, Predictor and Scorer, with a Domain Calculator added so KNIME knows the tier labels.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dashboard answers one business question, so the audience can read it without a guided tour. The next three slides show each dashboard, what it reveals and why those charts were chosen.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0.6948 and 0.1858 on the outlet type chart are shares of total sales. The oldest outlet in the age chart, OUT027 at 41 years, is also the top outlet.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Ranking labels are shares of total sales. In the matrix, Supermarket Type1 medium outlets total about 6.39M, small about 4.39M and high about 2.14M, while grocery stores stay under 0.2M per size. The box plots show the distribution of individual item sales at each outlet.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visibility drop probably reflects outlet mix as much as shelf space, since grocery stores sell less overall; worth checking by filtering to one outlet type. The top items chart ranks individual products, led by FDA15 and FDA04.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percentages come from the Sales Overview and Outlet Performance dashboards. The classification accuracy comes from the KNIME Scorer.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connecting the three parts: KNIME produced clean data and models, Tableau made the patterns visible, and together they support inventory, pricing and shelf-space decisions.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3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4202B"/>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4202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02B"/>
        </a:solidFill>
      </p:bgPr>
    </p:bg>
    <p:spTree>
      <p:nvGrpSpPr>
        <p:cNvPr id="1" name=""/>
        <p:cNvGrpSpPr/>
        <p:nvPr/>
      </p:nvGrpSpPr>
      <p:grpSpPr>
        <a:xfrm>
          <a:off x="0" y="0"/>
          <a:ext cx="0" cy="0"/>
          <a:chOff x="0" y="0"/>
          <a:chExt cx="0" cy="0"/>
        </a:xfrm>
      </p:grpSpPr>
      <p:sp>
        <p:nvSpPr>
          <p:cNvPr id="2" name="Shape 0"/>
          <p:cNvSpPr/>
          <p:nvPr/>
        </p:nvSpPr>
        <p:spPr>
          <a:xfrm>
            <a:off x="8128000" y="4648200"/>
            <a:ext cx="508000" cy="1397000"/>
          </a:xfrm>
          <a:prstGeom prst="roundRect">
            <a:avLst>
              <a:gd name="adj" fmla="val 10000"/>
            </a:avLst>
          </a:prstGeom>
          <a:solidFill>
            <a:srgbClr val="3F6E9A"/>
          </a:solidFill>
          <a:ln/>
        </p:spPr>
      </p:sp>
      <p:sp>
        <p:nvSpPr>
          <p:cNvPr id="3" name="Shape 1"/>
          <p:cNvSpPr/>
          <p:nvPr/>
        </p:nvSpPr>
        <p:spPr>
          <a:xfrm>
            <a:off x="8813800" y="3886200"/>
            <a:ext cx="508000" cy="2159000"/>
          </a:xfrm>
          <a:prstGeom prst="roundRect">
            <a:avLst>
              <a:gd name="adj" fmla="val 10000"/>
            </a:avLst>
          </a:prstGeom>
          <a:solidFill>
            <a:srgbClr val="3F6E9A"/>
          </a:solidFill>
          <a:ln/>
        </p:spPr>
      </p:sp>
      <p:sp>
        <p:nvSpPr>
          <p:cNvPr id="4" name="Shape 2"/>
          <p:cNvSpPr/>
          <p:nvPr/>
        </p:nvSpPr>
        <p:spPr>
          <a:xfrm>
            <a:off x="9499600" y="4267200"/>
            <a:ext cx="508000" cy="1778000"/>
          </a:xfrm>
          <a:prstGeom prst="roundRect">
            <a:avLst>
              <a:gd name="adj" fmla="val 10000"/>
            </a:avLst>
          </a:prstGeom>
          <a:solidFill>
            <a:srgbClr val="3F6E9A"/>
          </a:solidFill>
          <a:ln/>
        </p:spPr>
      </p:sp>
      <p:sp>
        <p:nvSpPr>
          <p:cNvPr id="5" name="Shape 3"/>
          <p:cNvSpPr/>
          <p:nvPr/>
        </p:nvSpPr>
        <p:spPr>
          <a:xfrm>
            <a:off x="10185400" y="3060700"/>
            <a:ext cx="508000" cy="2984500"/>
          </a:xfrm>
          <a:prstGeom prst="roundRect">
            <a:avLst>
              <a:gd name="adj" fmla="val 10000"/>
            </a:avLst>
          </a:prstGeom>
          <a:solidFill>
            <a:srgbClr val="E8833A"/>
          </a:solidFill>
          <a:ln/>
        </p:spPr>
      </p:sp>
      <p:sp>
        <p:nvSpPr>
          <p:cNvPr id="6" name="Shape 4"/>
          <p:cNvSpPr/>
          <p:nvPr/>
        </p:nvSpPr>
        <p:spPr>
          <a:xfrm>
            <a:off x="10871200" y="3568700"/>
            <a:ext cx="508000" cy="2476500"/>
          </a:xfrm>
          <a:prstGeom prst="roundRect">
            <a:avLst>
              <a:gd name="adj" fmla="val 10000"/>
            </a:avLst>
          </a:prstGeom>
          <a:solidFill>
            <a:srgbClr val="3F6E9A"/>
          </a:solidFill>
          <a:ln/>
        </p:spPr>
      </p:sp>
      <p:sp>
        <p:nvSpPr>
          <p:cNvPr id="7" name="Text 5"/>
          <p:cNvSpPr/>
          <p:nvPr/>
        </p:nvSpPr>
        <p:spPr>
          <a:xfrm>
            <a:off x="812800" y="812800"/>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833A"/>
                </a:solidFill>
                <a:latin typeface="DM Sans" pitchFamily="34" charset="0"/>
                <a:ea typeface="DM Sans" pitchFamily="34" charset="-122"/>
                <a:cs typeface="DM Sans" pitchFamily="34" charset="-120"/>
              </a:rPr>
              <a:t>DATA ANALYSIS AND VISUALIZATION PROJECT</a:t>
            </a:r>
            <a:endParaRPr lang="en-US" sz="1400" dirty="0"/>
          </a:p>
        </p:txBody>
      </p:sp>
      <p:sp>
        <p:nvSpPr>
          <p:cNvPr id="8" name="Text 6"/>
          <p:cNvSpPr/>
          <p:nvPr>
            <p:ph type="title"/>
          </p:nvPr>
        </p:nvSpPr>
        <p:spPr>
          <a:xfrm>
            <a:off x="812800" y="2241616"/>
            <a:ext cx="10883392" cy="1518841"/>
          </a:xfrm>
          <a:prstGeom prst="rect">
            <a:avLst/>
          </a:prstGeom>
          <a:noFill/>
          <a:ln/>
        </p:spPr>
        <p:txBody>
          <a:bodyPr wrap="square" lIns="0" tIns="0" rIns="0" bIns="0" rtlCol="0" anchor="t">
            <a:normAutofit/>
          </a:bodyPr>
          <a:lstStyle/>
          <a:p>
            <a:pPr algn="l" indent="0" marL="0">
              <a:lnSpc>
                <a:spcPts val="5880"/>
              </a:lnSpc>
              <a:buNone/>
            </a:pPr>
            <a:r>
              <a:rPr lang="en-US" sz="5600" b="1" i="0" dirty="0">
                <a:solidFill>
                  <a:srgbClr val="F4F1EA"/>
                </a:solidFill>
                <a:latin typeface="DM Sans" pitchFamily="34" charset="0"/>
                <a:ea typeface="DM Sans" pitchFamily="34" charset="-122"/>
                <a:cs typeface="DM Sans" pitchFamily="34" charset="-120"/>
              </a:rPr>
              <a:t>BigMart Sales</a:t>
            </a:r>
            <a:endParaRPr lang="en-US" sz="5600" dirty="0"/>
          </a:p>
          <a:p>
            <a:pPr algn="l" indent="0" marL="0">
              <a:lnSpc>
                <a:spcPts val="5880"/>
              </a:lnSpc>
              <a:buNone/>
            </a:pPr>
            <a:r>
              <a:rPr lang="en-US" sz="5600" b="1" i="0" dirty="0">
                <a:solidFill>
                  <a:srgbClr val="F4F1EA"/>
                </a:solidFill>
                <a:latin typeface="DM Sans" pitchFamily="34" charset="0"/>
                <a:ea typeface="DM Sans" pitchFamily="34" charset="-122"/>
                <a:cs typeface="DM Sans" pitchFamily="34" charset="-120"/>
              </a:rPr>
              <a:t>Analytics</a:t>
            </a:r>
            <a:endParaRPr lang="en-US" sz="5600" dirty="0"/>
          </a:p>
        </p:txBody>
      </p:sp>
      <p:sp>
        <p:nvSpPr>
          <p:cNvPr id="9" name="Text 7"/>
          <p:cNvSpPr/>
          <p:nvPr/>
        </p:nvSpPr>
        <p:spPr>
          <a:xfrm>
            <a:off x="812800" y="3938257"/>
            <a:ext cx="719455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A9B6C2"/>
                </a:solidFill>
                <a:latin typeface="DM Sans" pitchFamily="34" charset="0"/>
                <a:ea typeface="DM Sans" pitchFamily="34" charset="-122"/>
                <a:cs typeface="DM Sans" pitchFamily="34" charset="-120"/>
              </a:rPr>
              <a:t>From raw retail data to predictive models and interactive dashboards</a:t>
            </a:r>
            <a:endParaRPr lang="en-US" sz="2000" dirty="0"/>
          </a:p>
        </p:txBody>
      </p:sp>
      <p:sp>
        <p:nvSpPr>
          <p:cNvPr id="10" name="Text 8"/>
          <p:cNvSpPr/>
          <p:nvPr/>
        </p:nvSpPr>
        <p:spPr>
          <a:xfrm>
            <a:off x="812800" y="577850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6C2"/>
                </a:solidFill>
                <a:latin typeface="DM Sans" pitchFamily="34" charset="0"/>
                <a:ea typeface="DM Sans" pitchFamily="34" charset="-122"/>
                <a:cs typeface="DM Sans" pitchFamily="34" charset="-120"/>
              </a:rPr>
              <a:t>KNIME for cleaning and modeling · Tableau for visualization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PROJECT OVERVIEW</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Goal and approach</a:t>
            </a:r>
            <a:endParaRPr lang="en-US" sz="3200" dirty="0"/>
          </a:p>
        </p:txBody>
      </p:sp>
      <p:sp>
        <p:nvSpPr>
          <p:cNvPr id="4" name="Shape 2"/>
          <p:cNvSpPr/>
          <p:nvPr/>
        </p:nvSpPr>
        <p:spPr>
          <a:xfrm>
            <a:off x="815975" y="1928416"/>
            <a:ext cx="3380317" cy="2130425"/>
          </a:xfrm>
          <a:prstGeom prst="roundRect">
            <a:avLst>
              <a:gd name="adj" fmla="val 4620"/>
            </a:avLst>
          </a:prstGeom>
          <a:solidFill>
            <a:srgbClr val="FFFDF8"/>
          </a:solidFill>
          <a:ln w="6350">
            <a:solidFill>
              <a:srgbClr val="E2DDD0"/>
            </a:solidFill>
            <a:prstDash val="solid"/>
          </a:ln>
        </p:spPr>
      </p:sp>
      <p:sp>
        <p:nvSpPr>
          <p:cNvPr id="5" name="Text 3"/>
          <p:cNvSpPr/>
          <p:nvPr/>
        </p:nvSpPr>
        <p:spPr>
          <a:xfrm>
            <a:off x="1096433" y="2208874"/>
            <a:ext cx="290398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DM Sans" pitchFamily="34" charset="0"/>
                <a:ea typeface="DM Sans" pitchFamily="34" charset="-122"/>
                <a:cs typeface="DM Sans" pitchFamily="34" charset="-120"/>
              </a:rPr>
              <a:t>The question</a:t>
            </a:r>
            <a:endParaRPr lang="en-US" sz="2000" dirty="0"/>
          </a:p>
        </p:txBody>
      </p:sp>
      <p:sp>
        <p:nvSpPr>
          <p:cNvPr id="6" name="Text 4"/>
          <p:cNvSpPr/>
          <p:nvPr/>
        </p:nvSpPr>
        <p:spPr>
          <a:xfrm>
            <a:off x="1096433" y="2640674"/>
            <a:ext cx="2903982"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651"/>
                </a:solidFill>
                <a:latin typeface="DM Sans" pitchFamily="34" charset="0"/>
                <a:ea typeface="DM Sans" pitchFamily="34" charset="-122"/>
                <a:cs typeface="DM Sans" pitchFamily="34" charset="-120"/>
              </a:rPr>
              <a:t>Which product and store factors drive sales across BigMart's 10 outlets, and can we predict them?</a:t>
            </a:r>
            <a:endParaRPr lang="en-US" sz="1600" dirty="0"/>
          </a:p>
        </p:txBody>
      </p:sp>
      <p:sp>
        <p:nvSpPr>
          <p:cNvPr id="7" name="Shape 5"/>
          <p:cNvSpPr/>
          <p:nvPr/>
        </p:nvSpPr>
        <p:spPr>
          <a:xfrm>
            <a:off x="4405842" y="1928416"/>
            <a:ext cx="3380317" cy="2130425"/>
          </a:xfrm>
          <a:prstGeom prst="roundRect">
            <a:avLst>
              <a:gd name="adj" fmla="val 4620"/>
            </a:avLst>
          </a:prstGeom>
          <a:solidFill>
            <a:srgbClr val="FFFDF8"/>
          </a:solidFill>
          <a:ln w="6350">
            <a:solidFill>
              <a:srgbClr val="E2DDD0"/>
            </a:solidFill>
            <a:prstDash val="solid"/>
          </a:ln>
        </p:spPr>
      </p:sp>
      <p:sp>
        <p:nvSpPr>
          <p:cNvPr id="8" name="Text 6"/>
          <p:cNvSpPr/>
          <p:nvPr/>
        </p:nvSpPr>
        <p:spPr>
          <a:xfrm>
            <a:off x="4686300" y="2208874"/>
            <a:ext cx="290398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DM Sans" pitchFamily="34" charset="0"/>
                <a:ea typeface="DM Sans" pitchFamily="34" charset="-122"/>
                <a:cs typeface="DM Sans" pitchFamily="34" charset="-120"/>
              </a:rPr>
              <a:t>The approach</a:t>
            </a:r>
            <a:endParaRPr lang="en-US" sz="2000" dirty="0"/>
          </a:p>
        </p:txBody>
      </p:sp>
      <p:sp>
        <p:nvSpPr>
          <p:cNvPr id="9" name="Text 7"/>
          <p:cNvSpPr/>
          <p:nvPr/>
        </p:nvSpPr>
        <p:spPr>
          <a:xfrm>
            <a:off x="4686300" y="2640674"/>
            <a:ext cx="2903982"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651"/>
                </a:solidFill>
                <a:latin typeface="DM Sans" pitchFamily="34" charset="0"/>
                <a:ea typeface="DM Sans" pitchFamily="34" charset="-122"/>
                <a:cs typeface="DM Sans" pitchFamily="34" charset="-120"/>
              </a:rPr>
              <a:t>Clean and prepare the data in KNIME, explore it visually in Tableau, then model it with regression and classification.</a:t>
            </a:r>
            <a:endParaRPr lang="en-US" sz="1600" dirty="0"/>
          </a:p>
        </p:txBody>
      </p:sp>
      <p:sp>
        <p:nvSpPr>
          <p:cNvPr id="10" name="Shape 8"/>
          <p:cNvSpPr/>
          <p:nvPr/>
        </p:nvSpPr>
        <p:spPr>
          <a:xfrm>
            <a:off x="7995709" y="1928416"/>
            <a:ext cx="3380317" cy="2130425"/>
          </a:xfrm>
          <a:prstGeom prst="roundRect">
            <a:avLst>
              <a:gd name="adj" fmla="val 4620"/>
            </a:avLst>
          </a:prstGeom>
          <a:solidFill>
            <a:srgbClr val="FFFDF8"/>
          </a:solidFill>
          <a:ln w="6350">
            <a:solidFill>
              <a:srgbClr val="E2DDD0"/>
            </a:solidFill>
            <a:prstDash val="solid"/>
          </a:ln>
        </p:spPr>
      </p:sp>
      <p:sp>
        <p:nvSpPr>
          <p:cNvPr id="11" name="Text 9"/>
          <p:cNvSpPr/>
          <p:nvPr/>
        </p:nvSpPr>
        <p:spPr>
          <a:xfrm>
            <a:off x="8276167" y="2208874"/>
            <a:ext cx="290398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02B"/>
                </a:solidFill>
                <a:latin typeface="DM Sans" pitchFamily="34" charset="0"/>
                <a:ea typeface="DM Sans" pitchFamily="34" charset="-122"/>
                <a:cs typeface="DM Sans" pitchFamily="34" charset="-120"/>
              </a:rPr>
              <a:t>The output</a:t>
            </a:r>
            <a:endParaRPr lang="en-US" sz="2000" dirty="0"/>
          </a:p>
        </p:txBody>
      </p:sp>
      <p:sp>
        <p:nvSpPr>
          <p:cNvPr id="12" name="Text 10"/>
          <p:cNvSpPr/>
          <p:nvPr/>
        </p:nvSpPr>
        <p:spPr>
          <a:xfrm>
            <a:off x="8276167" y="2640674"/>
            <a:ext cx="2903982" cy="1163108"/>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A4651"/>
                </a:solidFill>
                <a:latin typeface="DM Sans" pitchFamily="34" charset="0"/>
                <a:ea typeface="DM Sans" pitchFamily="34" charset="-122"/>
                <a:cs typeface="DM Sans" pitchFamily="34" charset="-120"/>
              </a:rPr>
              <a:t>A cleaned dataset, two Random Forest models and three interactive Tableau dashboards.</a:t>
            </a:r>
            <a:endParaRPr lang="en-US" sz="1600" dirty="0"/>
          </a:p>
        </p:txBody>
      </p:sp>
      <p:sp>
        <p:nvSpPr>
          <p:cNvPr id="13" name="Text 1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14" name="Text 1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THE DATA</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The BigMart sales dataset</a:t>
            </a:r>
            <a:endParaRPr lang="en-US" sz="3200" dirty="0"/>
          </a:p>
        </p:txBody>
      </p:sp>
      <p:sp>
        <p:nvSpPr>
          <p:cNvPr id="4" name="Shape 2"/>
          <p:cNvSpPr/>
          <p:nvPr/>
        </p:nvSpPr>
        <p:spPr>
          <a:xfrm>
            <a:off x="812800" y="1823641"/>
            <a:ext cx="3386667" cy="1076920"/>
          </a:xfrm>
          <a:prstGeom prst="roundRect">
            <a:avLst>
              <a:gd name="adj" fmla="val 9434"/>
            </a:avLst>
          </a:prstGeom>
          <a:solidFill>
            <a:srgbClr val="14202B"/>
          </a:solidFill>
          <a:ln/>
        </p:spPr>
      </p:sp>
      <p:sp>
        <p:nvSpPr>
          <p:cNvPr id="5" name="Text 3"/>
          <p:cNvSpPr/>
          <p:nvPr/>
        </p:nvSpPr>
        <p:spPr>
          <a:xfrm>
            <a:off x="1041400" y="2001441"/>
            <a:ext cx="3017351"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E8833A"/>
                </a:solidFill>
                <a:latin typeface="DM Sans" pitchFamily="34" charset="0"/>
                <a:ea typeface="DM Sans" pitchFamily="34" charset="-122"/>
                <a:cs typeface="DM Sans" pitchFamily="34" charset="-120"/>
              </a:rPr>
              <a:t>8,523</a:t>
            </a:r>
            <a:endParaRPr lang="en-US" sz="3200" dirty="0"/>
          </a:p>
        </p:txBody>
      </p:sp>
      <p:sp>
        <p:nvSpPr>
          <p:cNvPr id="6" name="Text 4"/>
          <p:cNvSpPr/>
          <p:nvPr/>
        </p:nvSpPr>
        <p:spPr>
          <a:xfrm>
            <a:off x="1041400" y="2473855"/>
            <a:ext cx="301735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DM Sans" pitchFamily="34" charset="0"/>
                <a:ea typeface="DM Sans" pitchFamily="34" charset="-122"/>
                <a:cs typeface="DM Sans" pitchFamily="34" charset="-120"/>
              </a:rPr>
              <a:t>item-outlet records</a:t>
            </a:r>
            <a:endParaRPr lang="en-US" sz="1400" dirty="0"/>
          </a:p>
        </p:txBody>
      </p:sp>
      <p:sp>
        <p:nvSpPr>
          <p:cNvPr id="7" name="Shape 5"/>
          <p:cNvSpPr/>
          <p:nvPr/>
        </p:nvSpPr>
        <p:spPr>
          <a:xfrm>
            <a:off x="4402667" y="1823641"/>
            <a:ext cx="3386667" cy="1076920"/>
          </a:xfrm>
          <a:prstGeom prst="roundRect">
            <a:avLst>
              <a:gd name="adj" fmla="val 9434"/>
            </a:avLst>
          </a:prstGeom>
          <a:solidFill>
            <a:srgbClr val="14202B"/>
          </a:solidFill>
          <a:ln/>
        </p:spPr>
      </p:sp>
      <p:sp>
        <p:nvSpPr>
          <p:cNvPr id="8" name="Text 6"/>
          <p:cNvSpPr/>
          <p:nvPr/>
        </p:nvSpPr>
        <p:spPr>
          <a:xfrm>
            <a:off x="4631267" y="2001441"/>
            <a:ext cx="3017351"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E8833A"/>
                </a:solidFill>
                <a:latin typeface="DM Sans" pitchFamily="34" charset="0"/>
                <a:ea typeface="DM Sans" pitchFamily="34" charset="-122"/>
                <a:cs typeface="DM Sans" pitchFamily="34" charset="-120"/>
              </a:rPr>
              <a:t>10</a:t>
            </a:r>
            <a:endParaRPr lang="en-US" sz="3200" dirty="0"/>
          </a:p>
        </p:txBody>
      </p:sp>
      <p:sp>
        <p:nvSpPr>
          <p:cNvPr id="9" name="Text 7"/>
          <p:cNvSpPr/>
          <p:nvPr/>
        </p:nvSpPr>
        <p:spPr>
          <a:xfrm>
            <a:off x="4631267" y="2473855"/>
            <a:ext cx="301735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DM Sans" pitchFamily="34" charset="0"/>
                <a:ea typeface="DM Sans" pitchFamily="34" charset="-122"/>
                <a:cs typeface="DM Sans" pitchFamily="34" charset="-120"/>
              </a:rPr>
              <a:t>retail outlets</a:t>
            </a:r>
            <a:endParaRPr lang="en-US" sz="1400" dirty="0"/>
          </a:p>
        </p:txBody>
      </p:sp>
      <p:sp>
        <p:nvSpPr>
          <p:cNvPr id="10" name="Shape 8"/>
          <p:cNvSpPr/>
          <p:nvPr/>
        </p:nvSpPr>
        <p:spPr>
          <a:xfrm>
            <a:off x="7992534" y="1823641"/>
            <a:ext cx="3386667" cy="1076920"/>
          </a:xfrm>
          <a:prstGeom prst="roundRect">
            <a:avLst>
              <a:gd name="adj" fmla="val 9434"/>
            </a:avLst>
          </a:prstGeom>
          <a:solidFill>
            <a:srgbClr val="14202B"/>
          </a:solidFill>
          <a:ln/>
        </p:spPr>
      </p:sp>
      <p:sp>
        <p:nvSpPr>
          <p:cNvPr id="11" name="Text 9"/>
          <p:cNvSpPr/>
          <p:nvPr/>
        </p:nvSpPr>
        <p:spPr>
          <a:xfrm>
            <a:off x="8221134" y="2001441"/>
            <a:ext cx="3017351" cy="472414"/>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E8833A"/>
                </a:solidFill>
                <a:latin typeface="DM Sans" pitchFamily="34" charset="0"/>
                <a:ea typeface="DM Sans" pitchFamily="34" charset="-122"/>
                <a:cs typeface="DM Sans" pitchFamily="34" charset="-120"/>
              </a:rPr>
              <a:t>12</a:t>
            </a:r>
            <a:endParaRPr lang="en-US" sz="3200" dirty="0"/>
          </a:p>
        </p:txBody>
      </p:sp>
      <p:sp>
        <p:nvSpPr>
          <p:cNvPr id="12" name="Text 10"/>
          <p:cNvSpPr/>
          <p:nvPr/>
        </p:nvSpPr>
        <p:spPr>
          <a:xfrm>
            <a:off x="8221134" y="2473855"/>
            <a:ext cx="3017351"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DM Sans" pitchFamily="34" charset="0"/>
                <a:ea typeface="DM Sans" pitchFamily="34" charset="-122"/>
                <a:cs typeface="DM Sans" pitchFamily="34" charset="-120"/>
              </a:rPr>
              <a:t>original attributes</a:t>
            </a:r>
            <a:endParaRPr lang="en-US" sz="1400" dirty="0"/>
          </a:p>
        </p:txBody>
      </p:sp>
      <p:sp>
        <p:nvSpPr>
          <p:cNvPr id="13" name="Shape 11"/>
          <p:cNvSpPr/>
          <p:nvPr/>
        </p:nvSpPr>
        <p:spPr>
          <a:xfrm>
            <a:off x="815975" y="3157736"/>
            <a:ext cx="3380317" cy="2343944"/>
          </a:xfrm>
          <a:prstGeom prst="roundRect">
            <a:avLst>
              <a:gd name="adj" fmla="val 4199"/>
            </a:avLst>
          </a:prstGeom>
          <a:solidFill>
            <a:srgbClr val="FFFDF8"/>
          </a:solidFill>
          <a:ln w="6350">
            <a:solidFill>
              <a:srgbClr val="E2DDD0"/>
            </a:solidFill>
            <a:prstDash val="solid"/>
          </a:ln>
        </p:spPr>
      </p:sp>
      <p:sp>
        <p:nvSpPr>
          <p:cNvPr id="14" name="Text 12"/>
          <p:cNvSpPr/>
          <p:nvPr/>
        </p:nvSpPr>
        <p:spPr>
          <a:xfrm>
            <a:off x="1045633" y="3361995"/>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F6E9A"/>
                </a:solidFill>
                <a:latin typeface="DM Sans" pitchFamily="34" charset="0"/>
                <a:ea typeface="DM Sans" pitchFamily="34" charset="-122"/>
                <a:cs typeface="DM Sans" pitchFamily="34" charset="-120"/>
              </a:rPr>
              <a:t>Product</a:t>
            </a:r>
            <a:endParaRPr lang="en-US" sz="1700" dirty="0"/>
          </a:p>
        </p:txBody>
      </p:sp>
      <p:sp>
        <p:nvSpPr>
          <p:cNvPr id="15" name="Text 13"/>
          <p:cNvSpPr/>
          <p:nvPr/>
        </p:nvSpPr>
        <p:spPr>
          <a:xfrm>
            <a:off x="1130215" y="3697222"/>
            <a:ext cx="2916428" cy="16256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Item_Identifier</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Item_Weight</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Item_Fat_Content</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Item_Visibility</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Item_Type</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Item_MRP</a:t>
            </a:r>
            <a:endParaRPr lang="en-US" sz="1400" dirty="0"/>
          </a:p>
        </p:txBody>
      </p:sp>
      <p:sp>
        <p:nvSpPr>
          <p:cNvPr id="16" name="Shape 14"/>
          <p:cNvSpPr/>
          <p:nvPr/>
        </p:nvSpPr>
        <p:spPr>
          <a:xfrm>
            <a:off x="4405842" y="3157736"/>
            <a:ext cx="3380317" cy="2343944"/>
          </a:xfrm>
          <a:prstGeom prst="roundRect">
            <a:avLst>
              <a:gd name="adj" fmla="val 4199"/>
            </a:avLst>
          </a:prstGeom>
          <a:solidFill>
            <a:srgbClr val="FFFDF8"/>
          </a:solidFill>
          <a:ln w="6350">
            <a:solidFill>
              <a:srgbClr val="E2DDD0"/>
            </a:solidFill>
            <a:prstDash val="solid"/>
          </a:ln>
        </p:spPr>
      </p:sp>
      <p:sp>
        <p:nvSpPr>
          <p:cNvPr id="17" name="Text 15"/>
          <p:cNvSpPr/>
          <p:nvPr/>
        </p:nvSpPr>
        <p:spPr>
          <a:xfrm>
            <a:off x="4635500" y="3361995"/>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F6E9A"/>
                </a:solidFill>
                <a:latin typeface="DM Sans" pitchFamily="34" charset="0"/>
                <a:ea typeface="DM Sans" pitchFamily="34" charset="-122"/>
                <a:cs typeface="DM Sans" pitchFamily="34" charset="-120"/>
              </a:rPr>
              <a:t>Outlet</a:t>
            </a:r>
            <a:endParaRPr lang="en-US" sz="1700" dirty="0"/>
          </a:p>
        </p:txBody>
      </p:sp>
      <p:sp>
        <p:nvSpPr>
          <p:cNvPr id="18" name="Text 16"/>
          <p:cNvSpPr/>
          <p:nvPr/>
        </p:nvSpPr>
        <p:spPr>
          <a:xfrm>
            <a:off x="4720082" y="3697222"/>
            <a:ext cx="2916428" cy="13589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Outlet_Identifier</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Outlet_Establishment_Year</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Outlet_Size</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Outlet_Location_Type</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Outlet_Type</a:t>
            </a:r>
            <a:endParaRPr lang="en-US" sz="1400" dirty="0"/>
          </a:p>
        </p:txBody>
      </p:sp>
      <p:sp>
        <p:nvSpPr>
          <p:cNvPr id="19" name="Shape 17"/>
          <p:cNvSpPr/>
          <p:nvPr/>
        </p:nvSpPr>
        <p:spPr>
          <a:xfrm>
            <a:off x="7995709" y="3157736"/>
            <a:ext cx="3380317" cy="2343944"/>
          </a:xfrm>
          <a:prstGeom prst="roundRect">
            <a:avLst>
              <a:gd name="adj" fmla="val 4199"/>
            </a:avLst>
          </a:prstGeom>
          <a:solidFill>
            <a:srgbClr val="FFFDF8"/>
          </a:solidFill>
          <a:ln w="6350">
            <a:solidFill>
              <a:srgbClr val="E2DDD0"/>
            </a:solidFill>
            <a:prstDash val="solid"/>
          </a:ln>
        </p:spPr>
      </p:sp>
      <p:sp>
        <p:nvSpPr>
          <p:cNvPr id="20" name="Text 18"/>
          <p:cNvSpPr/>
          <p:nvPr/>
        </p:nvSpPr>
        <p:spPr>
          <a:xfrm>
            <a:off x="8225367" y="3361995"/>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F6E9A"/>
                </a:solidFill>
                <a:latin typeface="DM Sans" pitchFamily="34" charset="0"/>
                <a:ea typeface="DM Sans" pitchFamily="34" charset="-122"/>
                <a:cs typeface="DM Sans" pitchFamily="34" charset="-120"/>
              </a:rPr>
              <a:t>Target</a:t>
            </a:r>
            <a:endParaRPr lang="en-US" sz="1700" dirty="0"/>
          </a:p>
        </p:txBody>
      </p:sp>
      <p:sp>
        <p:nvSpPr>
          <p:cNvPr id="21" name="Text 19"/>
          <p:cNvSpPr/>
          <p:nvPr/>
        </p:nvSpPr>
        <p:spPr>
          <a:xfrm>
            <a:off x="8309949" y="3697222"/>
            <a:ext cx="2916428" cy="2921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Item_Outlet_Sales</a:t>
            </a:r>
            <a:endParaRPr lang="en-US" sz="1400" dirty="0"/>
          </a:p>
        </p:txBody>
      </p:sp>
      <p:sp>
        <p:nvSpPr>
          <p:cNvPr id="22" name="Text 20"/>
          <p:cNvSpPr/>
          <p:nvPr/>
        </p:nvSpPr>
        <p:spPr>
          <a:xfrm>
            <a:off x="8225367" y="4040122"/>
            <a:ext cx="3008630"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DM Sans" pitchFamily="34" charset="0"/>
                <a:ea typeface="DM Sans" pitchFamily="34" charset="-122"/>
                <a:cs typeface="DM Sans" pitchFamily="34" charset="-120"/>
              </a:rPr>
              <a:t>Sales of one product at one outlet, the value we analyze and predict.</a:t>
            </a:r>
            <a:endParaRPr lang="en-US" sz="1400" dirty="0"/>
          </a:p>
        </p:txBody>
      </p:sp>
      <p:sp>
        <p:nvSpPr>
          <p:cNvPr id="23" name="Text 21"/>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24" name="Text 22"/>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STEP 1 · CLEANING IN KNIME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Data quality issues and fixes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7141"/>
          <a:ext cx="10553700" cy="2489862"/>
        </p:xfrm>
        <a:graphic>
          <a:graphicData uri="http://schemas.openxmlformats.org/drawingml/2006/table">
            <a:tbl>
              <a:tblPr/>
              <a:tblGrid>
                <a:gridCol w="3166110"/>
                <a:gridCol w="3693795"/>
                <a:gridCol w="3693795"/>
              </a:tblGrid>
              <a:tr h="359304">
                <a:tc>
                  <a:txBody>
                    <a:bodyPr/>
                    <a:lstStyle/>
                    <a:p>
                      <a:pPr indent="0" marL="0">
                        <a:lnSpc>
                          <a:spcPts val="1820"/>
                        </a:lnSpc>
                        <a:buNone/>
                      </a:pPr>
                      <a:r>
                        <a:rPr lang="en-US" sz="1300" b="1" dirty="0">
                          <a:solidFill>
                            <a:srgbClr val="14202B"/>
                          </a:solidFill>
                          <a:latin typeface="DM Sans" pitchFamily="34" charset="0"/>
                          <a:ea typeface="DM Sans" pitchFamily="34" charset="-122"/>
                          <a:cs typeface="DM Sans" pitchFamily="34" charset="-120"/>
                        </a:rPr>
                        <a:t>Issue found</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02B"/>
                          </a:solidFill>
                          <a:latin typeface="DM Sans" pitchFamily="34" charset="0"/>
                          <a:ea typeface="DM Sans" pitchFamily="34" charset="-122"/>
                          <a:cs typeface="DM Sans" pitchFamily="34" charset="-120"/>
                        </a:rPr>
                        <a:t>Fix applied</a:t>
                      </a:r>
                      <a:endParaRPr lang="en-US" sz="1300" dirty="0">
                        <a:latin typeface="DM Sans" charset="0"/>
                        <a:ea typeface="DM Sans" charset="0"/>
                        <a:cs typeface="DM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02B"/>
                          </a:solidFill>
                          <a:latin typeface="DM Sans" pitchFamily="34" charset="0"/>
                          <a:ea typeface="DM Sans" pitchFamily="34" charset="-122"/>
                          <a:cs typeface="DM Sans" pitchFamily="34" charset="-120"/>
                        </a:rPr>
                        <a:t>Reason</a:t>
                      </a:r>
                      <a:endParaRPr lang="en-US" sz="1300" dirty="0">
                        <a:latin typeface="DM Sans" charset="0"/>
                        <a:ea typeface="DM Sans" charset="0"/>
                        <a:cs typeface="DM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590418">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Item_Fat_Content typed inconsistently (LF, low fat, reg)</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Rule Engine maps to "Low Fat" and "Regular"</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One category was split into several groups</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90418">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Zero values in Item_Visibility</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Set to missing, then imputed in the Missing Value node</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A stocked item cannot have zero shelf space</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Missing Item_Weight</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Imputed with mean or median</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Keeps every row available for modeling</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90418">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About 28% of Outlet_Size missing (2,410 rows)</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Filled with the most frequent value, Small</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Small is the dominant size for the affected outlet types</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WORKFLOW</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The KNIME to Tableau pipeline</a:t>
            </a:r>
            <a:endParaRPr lang="en-US" sz="3200" dirty="0"/>
          </a:p>
        </p:txBody>
      </p:sp>
      <p:sp>
        <p:nvSpPr>
          <p:cNvPr id="4" name="Text 2"/>
          <p:cNvSpPr/>
          <p:nvPr/>
        </p:nvSpPr>
        <p:spPr>
          <a:xfrm>
            <a:off x="812800" y="17982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2"/>
                </a:solidFill>
                <a:latin typeface="DM Sans" pitchFamily="34" charset="0"/>
                <a:ea typeface="DM Sans" pitchFamily="34" charset="-122"/>
                <a:cs typeface="DM Sans" pitchFamily="34" charset="-120"/>
              </a:rPr>
              <a:t>PREPARE AND EXPORT</a:t>
            </a:r>
            <a:endParaRPr lang="en-US" sz="1200" dirty="0"/>
          </a:p>
        </p:txBody>
      </p:sp>
      <p:sp>
        <p:nvSpPr>
          <p:cNvPr id="5" name="Text 3"/>
          <p:cNvSpPr/>
          <p:nvPr/>
        </p:nvSpPr>
        <p:spPr>
          <a:xfrm>
            <a:off x="815975" y="2358895"/>
            <a:ext cx="1681890" cy="538030"/>
          </a:xfrm>
          <a:prstGeom prst="roundRect">
            <a:avLst>
              <a:gd name="adj" fmla="val 13573"/>
            </a:avLst>
          </a:prstGeom>
          <a:solidFill>
            <a:srgbClr val="FFFDF8"/>
          </a:solidFill>
          <a:ln w="6350">
            <a:solidFill>
              <a:srgbClr val="E2DDD0"/>
            </a:solidFill>
            <a:prstDash val="solid"/>
          </a:ln>
        </p:spPr>
        <p:txBody>
          <a:bodyPr wrap="square" lIns="132070" tIns="132070" rIns="81270" bIns="106670" rtlCol="0" anchor="t">
            <a:normAutofit/>
          </a:bodyPr>
          <a:lstStyle/>
          <a:p>
            <a:pPr algn="l" indent="0" marL="0">
              <a:lnSpc>
                <a:spcPts val="1820"/>
              </a:lnSpc>
              <a:buNone/>
            </a:pPr>
            <a:r>
              <a:rPr lang="en-US" sz="1400" dirty="0">
                <a:solidFill>
                  <a:srgbClr val="14202B"/>
                </a:solidFill>
                <a:latin typeface="DM Sans" pitchFamily="34" charset="0"/>
                <a:ea typeface="DM Sans" pitchFamily="34" charset="-122"/>
                <a:cs typeface="DM Sans" pitchFamily="34" charset="-120"/>
              </a:rPr>
              <a:t>CSV Reader</a:t>
            </a:r>
            <a:endParaRPr lang="en-US" sz="1400" dirty="0"/>
          </a:p>
        </p:txBody>
      </p:sp>
      <p:pic>
        <p:nvPicPr>
          <p:cNvPr id="6" name="Image 0" descr="arrow-right">    </p:cNvPr>
          <p:cNvPicPr>
            <a:picLocks noChangeAspect="1"/>
          </p:cNvPicPr>
          <p:nvPr/>
        </p:nvPicPr>
        <p:blipFill>
          <a:blip r:embed="rId1"/>
          <a:srcRect l="0" r="0" t="0" b="0"/>
          <a:stretch/>
        </p:blipFill>
        <p:spPr>
          <a:xfrm>
            <a:off x="2628040" y="2526308"/>
            <a:ext cx="279400" cy="203200"/>
          </a:xfrm>
          <a:prstGeom prst="rect">
            <a:avLst/>
          </a:prstGeom>
        </p:spPr>
      </p:pic>
      <p:sp>
        <p:nvSpPr>
          <p:cNvPr id="7" name="Text 4"/>
          <p:cNvSpPr/>
          <p:nvPr/>
        </p:nvSpPr>
        <p:spPr>
          <a:xfrm>
            <a:off x="3037615" y="2243336"/>
            <a:ext cx="1681956" cy="769144"/>
          </a:xfrm>
          <a:prstGeom prst="roundRect">
            <a:avLst>
              <a:gd name="adj" fmla="val 9494"/>
            </a:avLst>
          </a:prstGeom>
          <a:solidFill>
            <a:srgbClr val="FFFDF8"/>
          </a:solidFill>
          <a:ln w="6350">
            <a:solidFill>
              <a:srgbClr val="E2DDD0"/>
            </a:solidFill>
            <a:prstDash val="solid"/>
          </a:ln>
        </p:spPr>
        <p:txBody>
          <a:bodyPr wrap="square" lIns="132070" tIns="132070" rIns="81270" bIns="106670" rtlCol="0" anchor="t">
            <a:normAutofit/>
          </a:bodyPr>
          <a:lstStyle/>
          <a:p>
            <a:pPr algn="l" indent="0" marL="0">
              <a:lnSpc>
                <a:spcPts val="1820"/>
              </a:lnSpc>
              <a:buNone/>
            </a:pPr>
            <a:r>
              <a:rPr lang="en-US" sz="1400" dirty="0">
                <a:solidFill>
                  <a:srgbClr val="14202B"/>
                </a:solidFill>
                <a:latin typeface="DM Sans" pitchFamily="34" charset="0"/>
                <a:ea typeface="DM Sans" pitchFamily="34" charset="-122"/>
                <a:cs typeface="DM Sans" pitchFamily="34" charset="-120"/>
              </a:rPr>
              <a:t>Clean and impute</a:t>
            </a:r>
            <a:endParaRPr lang="en-US" sz="1400" dirty="0"/>
          </a:p>
        </p:txBody>
      </p:sp>
      <p:pic>
        <p:nvPicPr>
          <p:cNvPr id="8" name="Image 1" descr="arrow-right">    </p:cNvPr>
          <p:cNvPicPr>
            <a:picLocks noChangeAspect="1"/>
          </p:cNvPicPr>
          <p:nvPr/>
        </p:nvPicPr>
        <p:blipFill>
          <a:blip r:embed="rId2"/>
          <a:srcRect l="0" r="0" t="0" b="0"/>
          <a:stretch/>
        </p:blipFill>
        <p:spPr>
          <a:xfrm>
            <a:off x="4849747" y="2526308"/>
            <a:ext cx="279400" cy="203200"/>
          </a:xfrm>
          <a:prstGeom prst="rect">
            <a:avLst/>
          </a:prstGeom>
        </p:spPr>
      </p:pic>
      <p:sp>
        <p:nvSpPr>
          <p:cNvPr id="9" name="Text 5"/>
          <p:cNvSpPr/>
          <p:nvPr/>
        </p:nvSpPr>
        <p:spPr>
          <a:xfrm>
            <a:off x="5259322" y="2243336"/>
            <a:ext cx="1681890" cy="769144"/>
          </a:xfrm>
          <a:prstGeom prst="roundRect">
            <a:avLst>
              <a:gd name="adj" fmla="val 9494"/>
            </a:avLst>
          </a:prstGeom>
          <a:solidFill>
            <a:srgbClr val="FFFDF8"/>
          </a:solidFill>
          <a:ln w="6350">
            <a:solidFill>
              <a:srgbClr val="E2DDD0"/>
            </a:solidFill>
            <a:prstDash val="solid"/>
          </a:ln>
        </p:spPr>
        <p:txBody>
          <a:bodyPr wrap="square" lIns="132070" tIns="132070" rIns="81270" bIns="106670" rtlCol="0" anchor="t">
            <a:normAutofit/>
          </a:bodyPr>
          <a:lstStyle/>
          <a:p>
            <a:pPr algn="l" indent="0" marL="0">
              <a:lnSpc>
                <a:spcPts val="1820"/>
              </a:lnSpc>
              <a:buNone/>
            </a:pPr>
            <a:r>
              <a:rPr lang="en-US" sz="1400" dirty="0">
                <a:solidFill>
                  <a:srgbClr val="14202B"/>
                </a:solidFill>
                <a:latin typeface="DM Sans" pitchFamily="34" charset="0"/>
                <a:ea typeface="DM Sans" pitchFamily="34" charset="-122"/>
                <a:cs typeface="DM Sans" pitchFamily="34" charset="-120"/>
              </a:rPr>
              <a:t>Engineer features</a:t>
            </a:r>
            <a:endParaRPr lang="en-US" sz="1400" dirty="0"/>
          </a:p>
        </p:txBody>
      </p:sp>
      <p:pic>
        <p:nvPicPr>
          <p:cNvPr id="10" name="Image 2" descr="arrow-right">    </p:cNvPr>
          <p:cNvPicPr>
            <a:picLocks noChangeAspect="1"/>
          </p:cNvPicPr>
          <p:nvPr/>
        </p:nvPicPr>
        <p:blipFill>
          <a:blip r:embed="rId3"/>
          <a:srcRect l="0" r="0" t="0" b="0"/>
          <a:stretch/>
        </p:blipFill>
        <p:spPr>
          <a:xfrm>
            <a:off x="7071387" y="2526308"/>
            <a:ext cx="279400" cy="203200"/>
          </a:xfrm>
          <a:prstGeom prst="rect">
            <a:avLst/>
          </a:prstGeom>
        </p:spPr>
      </p:pic>
      <p:sp>
        <p:nvSpPr>
          <p:cNvPr id="11" name="Text 6"/>
          <p:cNvSpPr/>
          <p:nvPr/>
        </p:nvSpPr>
        <p:spPr>
          <a:xfrm>
            <a:off x="7480962" y="2358895"/>
            <a:ext cx="1681890" cy="538030"/>
          </a:xfrm>
          <a:prstGeom prst="roundRect">
            <a:avLst>
              <a:gd name="adj" fmla="val 13573"/>
            </a:avLst>
          </a:prstGeom>
          <a:solidFill>
            <a:srgbClr val="FFFDF8"/>
          </a:solidFill>
          <a:ln w="6350">
            <a:solidFill>
              <a:srgbClr val="E2DDD0"/>
            </a:solidFill>
            <a:prstDash val="solid"/>
          </a:ln>
        </p:spPr>
        <p:txBody>
          <a:bodyPr wrap="square" lIns="132070" tIns="132070" rIns="81270" bIns="106670" rtlCol="0" anchor="t">
            <a:normAutofit/>
          </a:bodyPr>
          <a:lstStyle/>
          <a:p>
            <a:pPr algn="l" indent="0" marL="0">
              <a:lnSpc>
                <a:spcPts val="1820"/>
              </a:lnSpc>
              <a:buNone/>
            </a:pPr>
            <a:r>
              <a:rPr lang="en-US" sz="1400" dirty="0">
                <a:solidFill>
                  <a:srgbClr val="14202B"/>
                </a:solidFill>
                <a:latin typeface="DM Sans" pitchFamily="34" charset="0"/>
                <a:ea typeface="DM Sans" pitchFamily="34" charset="-122"/>
                <a:cs typeface="DM Sans" pitchFamily="34" charset="-120"/>
              </a:rPr>
              <a:t>CSV Writer</a:t>
            </a:r>
            <a:endParaRPr lang="en-US" sz="1400" dirty="0"/>
          </a:p>
        </p:txBody>
      </p:sp>
      <p:pic>
        <p:nvPicPr>
          <p:cNvPr id="12" name="Image 3" descr="arrow-right">    </p:cNvPr>
          <p:cNvPicPr>
            <a:picLocks noChangeAspect="1"/>
          </p:cNvPicPr>
          <p:nvPr/>
        </p:nvPicPr>
        <p:blipFill>
          <a:blip r:embed="rId4"/>
          <a:srcRect l="0" r="0" t="0" b="0"/>
          <a:stretch/>
        </p:blipFill>
        <p:spPr>
          <a:xfrm>
            <a:off x="9293027" y="2526308"/>
            <a:ext cx="279400" cy="203200"/>
          </a:xfrm>
          <a:prstGeom prst="rect">
            <a:avLst/>
          </a:prstGeom>
        </p:spPr>
      </p:pic>
      <p:sp>
        <p:nvSpPr>
          <p:cNvPr id="13" name="Text 7"/>
          <p:cNvSpPr/>
          <p:nvPr/>
        </p:nvSpPr>
        <p:spPr>
          <a:xfrm>
            <a:off x="9699427" y="2244396"/>
            <a:ext cx="1679773" cy="767027"/>
          </a:xfrm>
          <a:prstGeom prst="roundRect">
            <a:avLst>
              <a:gd name="adj" fmla="val 9934"/>
            </a:avLst>
          </a:prstGeom>
          <a:solidFill>
            <a:srgbClr val="14202B"/>
          </a:solidFill>
          <a:ln/>
        </p:spPr>
        <p:txBody>
          <a:bodyPr wrap="square" lIns="130082" tIns="130082" rIns="79282" bIns="104682" rtlCol="0" anchor="t">
            <a:normAutofit/>
          </a:bodyPr>
          <a:lstStyle/>
          <a:p>
            <a:pPr algn="l" indent="0" marL="0">
              <a:lnSpc>
                <a:spcPts val="1820"/>
              </a:lnSpc>
              <a:buNone/>
            </a:pPr>
            <a:r>
              <a:rPr lang="en-US" sz="1400" dirty="0">
                <a:solidFill>
                  <a:srgbClr val="F4F1EA"/>
                </a:solidFill>
                <a:latin typeface="DM Sans" pitchFamily="34" charset="0"/>
                <a:ea typeface="DM Sans" pitchFamily="34" charset="-122"/>
                <a:cs typeface="DM Sans" pitchFamily="34" charset="-120"/>
              </a:rPr>
              <a:t>Tableau dashboards</a:t>
            </a:r>
            <a:endParaRPr lang="en-US" sz="1400" dirty="0"/>
          </a:p>
        </p:txBody>
      </p:sp>
      <p:sp>
        <p:nvSpPr>
          <p:cNvPr id="14" name="Text 8"/>
          <p:cNvSpPr/>
          <p:nvPr/>
        </p:nvSpPr>
        <p:spPr>
          <a:xfrm>
            <a:off x="812800" y="3244255"/>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6672"/>
                </a:solidFill>
                <a:latin typeface="DM Sans" pitchFamily="34" charset="0"/>
                <a:ea typeface="DM Sans" pitchFamily="34" charset="-122"/>
                <a:cs typeface="DM Sans" pitchFamily="34" charset="-120"/>
              </a:rPr>
              <a:t>MODEL</a:t>
            </a:r>
            <a:endParaRPr lang="en-US" sz="1200" dirty="0"/>
          </a:p>
        </p:txBody>
      </p:sp>
      <p:sp>
        <p:nvSpPr>
          <p:cNvPr id="15" name="Text 9"/>
          <p:cNvSpPr/>
          <p:nvPr/>
        </p:nvSpPr>
        <p:spPr>
          <a:xfrm>
            <a:off x="815975" y="4003873"/>
            <a:ext cx="3546806" cy="538030"/>
          </a:xfrm>
          <a:prstGeom prst="roundRect">
            <a:avLst>
              <a:gd name="adj" fmla="val 13573"/>
            </a:avLst>
          </a:prstGeom>
          <a:solidFill>
            <a:srgbClr val="FFFDF8"/>
          </a:solidFill>
          <a:ln w="6350">
            <a:solidFill>
              <a:srgbClr val="E2DDD0"/>
            </a:solidFill>
            <a:prstDash val="solid"/>
          </a:ln>
        </p:spPr>
        <p:txBody>
          <a:bodyPr wrap="square" lIns="132070" tIns="132070" rIns="34874" bIns="106670" rtlCol="0" anchor="t">
            <a:normAutofit/>
          </a:bodyPr>
          <a:lstStyle/>
          <a:p>
            <a:pPr algn="l" indent="0" marL="0">
              <a:lnSpc>
                <a:spcPts val="1820"/>
              </a:lnSpc>
              <a:buNone/>
            </a:pPr>
            <a:r>
              <a:rPr lang="en-US" sz="1400" dirty="0">
                <a:solidFill>
                  <a:srgbClr val="14202B"/>
                </a:solidFill>
                <a:latin typeface="DM Sans" pitchFamily="34" charset="0"/>
                <a:ea typeface="DM Sans" pitchFamily="34" charset="-122"/>
                <a:cs typeface="DM Sans" pitchFamily="34" charset="-120"/>
              </a:rPr>
              <a:t>Encode, drop IDs, normalize</a:t>
            </a:r>
            <a:endParaRPr lang="en-US" sz="1400" dirty="0"/>
          </a:p>
        </p:txBody>
      </p:sp>
      <p:pic>
        <p:nvPicPr>
          <p:cNvPr id="16" name="Image 4" descr="arrow-right">    </p:cNvPr>
          <p:cNvPicPr>
            <a:picLocks noChangeAspect="1"/>
          </p:cNvPicPr>
          <p:nvPr/>
        </p:nvPicPr>
        <p:blipFill>
          <a:blip r:embed="rId5"/>
          <a:srcRect l="0" r="0" t="0" b="0"/>
          <a:stretch/>
        </p:blipFill>
        <p:spPr>
          <a:xfrm>
            <a:off x="4492956" y="4171290"/>
            <a:ext cx="279400" cy="203200"/>
          </a:xfrm>
          <a:prstGeom prst="rect">
            <a:avLst/>
          </a:prstGeom>
        </p:spPr>
      </p:pic>
      <p:sp>
        <p:nvSpPr>
          <p:cNvPr id="17" name="Text 10"/>
          <p:cNvSpPr/>
          <p:nvPr/>
        </p:nvSpPr>
        <p:spPr>
          <a:xfrm>
            <a:off x="4899356" y="3686175"/>
            <a:ext cx="6479844" cy="535914"/>
          </a:xfrm>
          <a:prstGeom prst="roundRect">
            <a:avLst>
              <a:gd name="adj" fmla="val 14219"/>
            </a:avLst>
          </a:prstGeom>
          <a:solidFill>
            <a:srgbClr val="E3ECF4"/>
          </a:solidFill>
          <a:ln/>
        </p:spPr>
        <p:txBody>
          <a:bodyPr wrap="square" lIns="130082" tIns="130082" rIns="0" bIns="104682" rtlCol="0" anchor="t">
            <a:normAutofit/>
          </a:bodyPr>
          <a:lstStyle/>
          <a:p>
            <a:pPr algn="l" indent="0" marL="0">
              <a:lnSpc>
                <a:spcPts val="1820"/>
              </a:lnSpc>
              <a:buNone/>
            </a:pPr>
            <a:r>
              <a:rPr lang="en-US" sz="1400" dirty="0">
                <a:solidFill>
                  <a:srgbClr val="14202B"/>
                </a:solidFill>
                <a:latin typeface="DM Sans" pitchFamily="34" charset="0"/>
                <a:ea typeface="DM Sans" pitchFamily="34" charset="-122"/>
                <a:cs typeface="DM Sans" pitchFamily="34" charset="-120"/>
              </a:rPr>
              <a:t>Branch A: Regression. 80/20 split, Random Forest, Numeric Scorer</a:t>
            </a:r>
            <a:endParaRPr lang="en-US" sz="1400" dirty="0"/>
          </a:p>
        </p:txBody>
      </p:sp>
      <p:sp>
        <p:nvSpPr>
          <p:cNvPr id="18" name="Text 11"/>
          <p:cNvSpPr/>
          <p:nvPr/>
        </p:nvSpPr>
        <p:spPr>
          <a:xfrm>
            <a:off x="4899356" y="4323690"/>
            <a:ext cx="6479844" cy="535914"/>
          </a:xfrm>
          <a:prstGeom prst="roundRect">
            <a:avLst>
              <a:gd name="adj" fmla="val 14219"/>
            </a:avLst>
          </a:prstGeom>
          <a:solidFill>
            <a:srgbClr val="FBE6D5"/>
          </a:solidFill>
          <a:ln/>
        </p:spPr>
        <p:txBody>
          <a:bodyPr wrap="square" lIns="130082" tIns="130082" rIns="0" bIns="104682" rtlCol="0" anchor="t">
            <a:normAutofit/>
          </a:bodyPr>
          <a:lstStyle/>
          <a:p>
            <a:pPr algn="l" indent="0" marL="0">
              <a:lnSpc>
                <a:spcPts val="1820"/>
              </a:lnSpc>
              <a:buNone/>
            </a:pPr>
            <a:r>
              <a:rPr lang="en-US" sz="1400" dirty="0">
                <a:solidFill>
                  <a:srgbClr val="14202B"/>
                </a:solidFill>
                <a:latin typeface="DM Sans" pitchFamily="34" charset="0"/>
                <a:ea typeface="DM Sans" pitchFamily="34" charset="-122"/>
                <a:cs typeface="DM Sans" pitchFamily="34" charset="-120"/>
              </a:rPr>
              <a:t>Branch B: Classification. 80/20 stratified split, Random Forest, Scorer</a:t>
            </a:r>
            <a:endParaRPr lang="en-US" sz="1400" dirty="0"/>
          </a:p>
        </p:txBody>
      </p:sp>
      <p:sp>
        <p:nvSpPr>
          <p:cNvPr id="19" name="Text 1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20" name="Text 1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STEP 2 · FEATURE ENGINEERING</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New features and model preparation</a:t>
            </a:r>
            <a:endParaRPr lang="en-US" sz="3200" dirty="0"/>
          </a:p>
        </p:txBody>
      </p:sp>
      <p:sp>
        <p:nvSpPr>
          <p:cNvPr id="4" name="Shape 2"/>
          <p:cNvSpPr/>
          <p:nvPr/>
        </p:nvSpPr>
        <p:spPr>
          <a:xfrm>
            <a:off x="815975" y="1877616"/>
            <a:ext cx="3380317" cy="1815571"/>
          </a:xfrm>
          <a:prstGeom prst="roundRect">
            <a:avLst>
              <a:gd name="adj" fmla="val 5421"/>
            </a:avLst>
          </a:prstGeom>
          <a:solidFill>
            <a:srgbClr val="FFFDF8"/>
          </a:solidFill>
          <a:ln w="6350">
            <a:solidFill>
              <a:srgbClr val="E2DDD0"/>
            </a:solidFill>
            <a:prstDash val="solid"/>
          </a:ln>
        </p:spPr>
      </p:sp>
      <p:sp>
        <p:nvSpPr>
          <p:cNvPr id="5" name="Text 3"/>
          <p:cNvSpPr/>
          <p:nvPr/>
        </p:nvSpPr>
        <p:spPr>
          <a:xfrm>
            <a:off x="1045633" y="2107276"/>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F6E9A"/>
                </a:solidFill>
                <a:latin typeface="DM Sans" pitchFamily="34" charset="0"/>
                <a:ea typeface="DM Sans" pitchFamily="34" charset="-122"/>
                <a:cs typeface="DM Sans" pitchFamily="34" charset="-120"/>
              </a:rPr>
              <a:t>Outlet_Age</a:t>
            </a:r>
            <a:endParaRPr lang="en-US" sz="1700" dirty="0"/>
          </a:p>
        </p:txBody>
      </p:sp>
      <p:sp>
        <p:nvSpPr>
          <p:cNvPr id="6" name="Text 4"/>
          <p:cNvSpPr/>
          <p:nvPr/>
        </p:nvSpPr>
        <p:spPr>
          <a:xfrm>
            <a:off x="1045633" y="2467902"/>
            <a:ext cx="3008630"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DM Sans" pitchFamily="34" charset="0"/>
                <a:ea typeface="DM Sans" pitchFamily="34" charset="-122"/>
                <a:cs typeface="DM Sans" pitchFamily="34" charset="-120"/>
              </a:rPr>
              <a:t>2026 minus the establishment year. A year becomes a store age that models and charts can compare.</a:t>
            </a:r>
            <a:endParaRPr lang="en-US" sz="1400" dirty="0"/>
          </a:p>
        </p:txBody>
      </p:sp>
      <p:sp>
        <p:nvSpPr>
          <p:cNvPr id="7" name="Shape 5"/>
          <p:cNvSpPr/>
          <p:nvPr/>
        </p:nvSpPr>
        <p:spPr>
          <a:xfrm>
            <a:off x="4405842" y="1877616"/>
            <a:ext cx="3380317" cy="1815571"/>
          </a:xfrm>
          <a:prstGeom prst="roundRect">
            <a:avLst>
              <a:gd name="adj" fmla="val 5421"/>
            </a:avLst>
          </a:prstGeom>
          <a:solidFill>
            <a:srgbClr val="FFFDF8"/>
          </a:solidFill>
          <a:ln w="6350">
            <a:solidFill>
              <a:srgbClr val="E2DDD0"/>
            </a:solidFill>
            <a:prstDash val="solid"/>
          </a:ln>
        </p:spPr>
      </p:sp>
      <p:sp>
        <p:nvSpPr>
          <p:cNvPr id="8" name="Text 6"/>
          <p:cNvSpPr/>
          <p:nvPr/>
        </p:nvSpPr>
        <p:spPr>
          <a:xfrm>
            <a:off x="4635500" y="2107276"/>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F6E9A"/>
                </a:solidFill>
                <a:latin typeface="DM Sans" pitchFamily="34" charset="0"/>
                <a:ea typeface="DM Sans" pitchFamily="34" charset="-122"/>
                <a:cs typeface="DM Sans" pitchFamily="34" charset="-120"/>
              </a:rPr>
              <a:t>Item_Category_Code</a:t>
            </a:r>
            <a:endParaRPr lang="en-US" sz="1700" dirty="0"/>
          </a:p>
        </p:txBody>
      </p:sp>
      <p:sp>
        <p:nvSpPr>
          <p:cNvPr id="9" name="Text 7"/>
          <p:cNvSpPr/>
          <p:nvPr/>
        </p:nvSpPr>
        <p:spPr>
          <a:xfrm>
            <a:off x="4635500" y="2467902"/>
            <a:ext cx="3008630"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DM Sans" pitchFamily="34" charset="0"/>
                <a:ea typeface="DM Sans" pitchFamily="34" charset="-122"/>
                <a:cs typeface="DM Sans" pitchFamily="34" charset="-120"/>
              </a:rPr>
              <a:t>First two letters of Item_Identifier: FD food, DR drink, NC non-consumable. A broad product family.</a:t>
            </a:r>
            <a:endParaRPr lang="en-US" sz="1400" dirty="0"/>
          </a:p>
        </p:txBody>
      </p:sp>
      <p:sp>
        <p:nvSpPr>
          <p:cNvPr id="10" name="Shape 8"/>
          <p:cNvSpPr/>
          <p:nvPr/>
        </p:nvSpPr>
        <p:spPr>
          <a:xfrm>
            <a:off x="7995709" y="1877616"/>
            <a:ext cx="3380317" cy="1815571"/>
          </a:xfrm>
          <a:prstGeom prst="roundRect">
            <a:avLst>
              <a:gd name="adj" fmla="val 5421"/>
            </a:avLst>
          </a:prstGeom>
          <a:solidFill>
            <a:srgbClr val="FFFDF8"/>
          </a:solidFill>
          <a:ln w="6350">
            <a:solidFill>
              <a:srgbClr val="E2DDD0"/>
            </a:solidFill>
            <a:prstDash val="solid"/>
          </a:ln>
        </p:spPr>
      </p:sp>
      <p:sp>
        <p:nvSpPr>
          <p:cNvPr id="11" name="Text 9"/>
          <p:cNvSpPr/>
          <p:nvPr/>
        </p:nvSpPr>
        <p:spPr>
          <a:xfrm>
            <a:off x="8225367" y="2107276"/>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F6E9A"/>
                </a:solidFill>
                <a:latin typeface="DM Sans" pitchFamily="34" charset="0"/>
                <a:ea typeface="DM Sans" pitchFamily="34" charset="-122"/>
                <a:cs typeface="DM Sans" pitchFamily="34" charset="-120"/>
              </a:rPr>
              <a:t>Sales tier</a:t>
            </a:r>
            <a:endParaRPr lang="en-US" sz="1700" dirty="0"/>
          </a:p>
        </p:txBody>
      </p:sp>
      <p:sp>
        <p:nvSpPr>
          <p:cNvPr id="12" name="Text 10"/>
          <p:cNvSpPr/>
          <p:nvPr/>
        </p:nvSpPr>
        <p:spPr>
          <a:xfrm>
            <a:off x="8225367" y="2467902"/>
            <a:ext cx="3008630" cy="102102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A4651"/>
                </a:solidFill>
                <a:latin typeface="DM Sans" pitchFamily="34" charset="0"/>
                <a:ea typeface="DM Sans" pitchFamily="34" charset="-122"/>
                <a:cs typeface="DM Sans" pitchFamily="34" charset="-120"/>
              </a:rPr>
              <a:t>Sales split into three equal-frequency bins, cutoffs near $1,151 and $2,610. The classification target.</a:t>
            </a:r>
            <a:endParaRPr lang="en-US" sz="1400" dirty="0"/>
          </a:p>
        </p:txBody>
      </p:sp>
      <p:sp>
        <p:nvSpPr>
          <p:cNvPr id="13" name="Shape 11"/>
          <p:cNvSpPr/>
          <p:nvPr/>
        </p:nvSpPr>
        <p:spPr>
          <a:xfrm>
            <a:off x="812800" y="4001164"/>
            <a:ext cx="10566400" cy="1280120"/>
          </a:xfrm>
          <a:prstGeom prst="roundRect">
            <a:avLst>
              <a:gd name="adj" fmla="val 7937"/>
            </a:avLst>
          </a:prstGeom>
          <a:solidFill>
            <a:srgbClr val="14202B"/>
          </a:solidFill>
          <a:ln/>
        </p:spPr>
      </p:sp>
      <p:sp>
        <p:nvSpPr>
          <p:cNvPr id="14" name="Text 12"/>
          <p:cNvSpPr/>
          <p:nvPr/>
        </p:nvSpPr>
        <p:spPr>
          <a:xfrm>
            <a:off x="1092200" y="4229764"/>
            <a:ext cx="1030782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833A"/>
                </a:solidFill>
                <a:latin typeface="DM Sans" pitchFamily="34" charset="0"/>
                <a:ea typeface="DM Sans" pitchFamily="34" charset="-122"/>
                <a:cs typeface="DM Sans" pitchFamily="34" charset="-120"/>
              </a:rPr>
              <a:t>BEFORE MODELING</a:t>
            </a:r>
            <a:endParaRPr lang="en-US" sz="1200" dirty="0"/>
          </a:p>
        </p:txBody>
      </p:sp>
      <p:sp>
        <p:nvSpPr>
          <p:cNvPr id="15" name="Text 13"/>
          <p:cNvSpPr/>
          <p:nvPr/>
        </p:nvSpPr>
        <p:spPr>
          <a:xfrm>
            <a:off x="1092200" y="4519284"/>
            <a:ext cx="1030782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1EA"/>
                </a:solidFill>
                <a:latin typeface="DM Sans" pitchFamily="34" charset="0"/>
                <a:ea typeface="DM Sans" pitchFamily="34" charset="-122"/>
                <a:cs typeface="DM Sans" pitchFamily="34" charset="-120"/>
              </a:rPr>
              <a:t>One-hot encode the categorical columns, drop identifiers and Item_Type, then z-score normalize weight, visibility, MRP and outlet age.</a:t>
            </a:r>
            <a:endParaRPr lang="en-US" sz="1500" dirty="0"/>
          </a:p>
        </p:txBody>
      </p:sp>
      <p:sp>
        <p:nvSpPr>
          <p:cNvPr id="16" name="Text 14"/>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STEP 3 · MODELING</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Why both regression and classification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87141"/>
          <a:ext cx="10553700" cy="2027634"/>
        </p:xfrm>
        <a:graphic>
          <a:graphicData uri="http://schemas.openxmlformats.org/drawingml/2006/table">
            <a:tbl>
              <a:tblPr/>
              <a:tblGrid>
                <a:gridCol w="2110740"/>
                <a:gridCol w="4221480"/>
                <a:gridCol w="4221480"/>
              </a:tblGrid>
              <a:tr h="359304">
                <a:tc>
                  <a:txBody>
                    <a:bodyPr/>
                    <a:lstStyle/>
                    <a:p>
                      <a:pPr indent="0" marL="0">
                        <a:lnSpc>
                          <a:spcPts val="1820"/>
                        </a:lnSpc>
                        <a:buNone/>
                      </a:pP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02B"/>
                          </a:solidFill>
                          <a:latin typeface="DM Sans" pitchFamily="34" charset="0"/>
                          <a:ea typeface="DM Sans" pitchFamily="34" charset="-122"/>
                          <a:cs typeface="DM Sans" pitchFamily="34" charset="-120"/>
                        </a:rPr>
                        <a:t>Regression</a:t>
                      </a:r>
                      <a:endParaRPr lang="en-US" sz="1300" dirty="0">
                        <a:latin typeface="DM Sans" charset="0"/>
                        <a:ea typeface="DM Sans" charset="0"/>
                        <a:cs typeface="DM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820"/>
                        </a:lnSpc>
                        <a:buNone/>
                      </a:pPr>
                      <a:r>
                        <a:rPr lang="en-US" sz="1300" b="1" dirty="0">
                          <a:solidFill>
                            <a:srgbClr val="14202B"/>
                          </a:solidFill>
                          <a:latin typeface="DM Sans" pitchFamily="34" charset="0"/>
                          <a:ea typeface="DM Sans" pitchFamily="34" charset="-122"/>
                          <a:cs typeface="DM Sans" pitchFamily="34" charset="-120"/>
                        </a:rPr>
                        <a:t>Classification</a:t>
                      </a:r>
                      <a:endParaRPr lang="en-US" sz="1300" dirty="0">
                        <a:latin typeface="DM Sans" charset="0"/>
                        <a:ea typeface="DM Sans" charset="0"/>
                        <a:cs typeface="DM Sans" charset="0"/>
                      </a:endParaRPr>
                    </a:p>
                  </a:txBody>
                  <a:tcPr marL="57785" marR="57785" marT="57785" marB="57785"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59304">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Target</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Item_Outlet_Sales, a continuous amount</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Sales tier: Low, Medium or High</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Question</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How much will this item sell at this outlet?</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Will this item be a low, medium or high performer?</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590418">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Metrics</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R², RMSE, MAE</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Accuracy, Cohen's kappa, precision, recall, F-measure</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59304">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Use</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Demand planning and revenue projection</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820"/>
                        </a:lnSpc>
                        <a:buNone/>
                      </a:pPr>
                      <a:r>
                        <a:rPr lang="en-US" sz="1300" dirty="0">
                          <a:solidFill>
                            <a:srgbClr val="14202B"/>
                          </a:solidFill>
                          <a:latin typeface="DM Sans" pitchFamily="34" charset="0"/>
                          <a:ea typeface="DM Sans" pitchFamily="34" charset="-122"/>
                          <a:cs typeface="DM Sans" pitchFamily="34" charset="-120"/>
                        </a:rPr>
                        <a:t>Flag at-risk products, markdowns, shelf decisions</a:t>
                      </a:r>
                      <a:endParaRPr lang="en-US" sz="1300" dirty="0">
                        <a:latin typeface="DM Sans" charset="0"/>
                        <a:ea typeface="DM Sans" charset="0"/>
                        <a:cs typeface="DM Sans" charset="0"/>
                      </a:endParaRPr>
                    </a:p>
                  </a:txBody>
                  <a:tcPr marL="57785" marR="57785" marT="57785" marB="57785"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5" name="Text 2"/>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6" name="Text 3"/>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BRANCH A</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Regression: predicting the sales amount</a:t>
            </a:r>
            <a:endParaRPr lang="en-US" sz="3200" dirty="0"/>
          </a:p>
        </p:txBody>
      </p:sp>
      <p:sp>
        <p:nvSpPr>
          <p:cNvPr id="4" name="Text 2"/>
          <p:cNvSpPr/>
          <p:nvPr/>
        </p:nvSpPr>
        <p:spPr>
          <a:xfrm>
            <a:off x="812800" y="1874441"/>
            <a:ext cx="528472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02B"/>
                </a:solidFill>
                <a:latin typeface="DM Sans" pitchFamily="34" charset="0"/>
                <a:ea typeface="DM Sans" pitchFamily="34" charset="-122"/>
                <a:cs typeface="DM Sans" pitchFamily="34" charset="-120"/>
              </a:rPr>
              <a:t>Setup</a:t>
            </a:r>
            <a:endParaRPr lang="en-US" sz="1700" dirty="0"/>
          </a:p>
        </p:txBody>
      </p:sp>
      <p:sp>
        <p:nvSpPr>
          <p:cNvPr id="5" name="Text 3"/>
          <p:cNvSpPr/>
          <p:nvPr/>
        </p:nvSpPr>
        <p:spPr>
          <a:xfrm>
            <a:off x="897382" y="2260470"/>
            <a:ext cx="5192522" cy="13589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Target: Item_Outlet_Sales</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Inputs: scaled MRP, weight, visibility and outlet age, plus encoded store and item features</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80/20 random split with a fixed seed</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Random Forest Learner, Predictor and Numeric Scorer</a:t>
            </a:r>
            <a:endParaRPr lang="en-US" sz="1400" dirty="0"/>
          </a:p>
        </p:txBody>
      </p:sp>
      <p:sp>
        <p:nvSpPr>
          <p:cNvPr id="6" name="Text 4"/>
          <p:cNvSpPr/>
          <p:nvPr/>
        </p:nvSpPr>
        <p:spPr>
          <a:xfrm>
            <a:off x="6248400" y="1874441"/>
            <a:ext cx="5284724"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14202B"/>
                </a:solidFill>
                <a:latin typeface="DM Sans" pitchFamily="34" charset="0"/>
                <a:ea typeface="DM Sans" pitchFamily="34" charset="-122"/>
                <a:cs typeface="DM Sans" pitchFamily="34" charset="-120"/>
              </a:rPr>
              <a:t>Test-set results</a:t>
            </a:r>
            <a:endParaRPr lang="en-US" sz="1700" dirty="0"/>
          </a:p>
        </p:txBody>
      </p:sp>
      <p:sp>
        <p:nvSpPr>
          <p:cNvPr id="7" name="Shape 5"/>
          <p:cNvSpPr/>
          <p:nvPr/>
        </p:nvSpPr>
        <p:spPr>
          <a:xfrm>
            <a:off x="6248400" y="2260470"/>
            <a:ext cx="1625600" cy="1208947"/>
          </a:xfrm>
          <a:prstGeom prst="roundRect">
            <a:avLst>
              <a:gd name="adj" fmla="val 8404"/>
            </a:avLst>
          </a:prstGeom>
          <a:solidFill>
            <a:srgbClr val="14202B"/>
          </a:solidFill>
          <a:ln/>
        </p:spPr>
      </p:sp>
      <p:sp>
        <p:nvSpPr>
          <p:cNvPr id="8" name="Text 6"/>
          <p:cNvSpPr/>
          <p:nvPr/>
        </p:nvSpPr>
        <p:spPr>
          <a:xfrm>
            <a:off x="6400800" y="2438270"/>
            <a:ext cx="13716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8833A"/>
                </a:solidFill>
                <a:latin typeface="DM Sans" pitchFamily="34" charset="0"/>
                <a:ea typeface="DM Sans" pitchFamily="34" charset="-122"/>
                <a:cs typeface="DM Sans" pitchFamily="34" charset="-120"/>
              </a:rPr>
              <a:t>[R²]</a:t>
            </a:r>
            <a:endParaRPr lang="en-US" sz="2800" dirty="0"/>
          </a:p>
        </p:txBody>
      </p:sp>
      <p:sp>
        <p:nvSpPr>
          <p:cNvPr id="9" name="Text 7"/>
          <p:cNvSpPr/>
          <p:nvPr/>
        </p:nvSpPr>
        <p:spPr>
          <a:xfrm>
            <a:off x="6400800" y="2829390"/>
            <a:ext cx="1371600"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1EA"/>
                </a:solidFill>
                <a:latin typeface="DM Sans" pitchFamily="34" charset="0"/>
                <a:ea typeface="DM Sans" pitchFamily="34" charset="-122"/>
                <a:cs typeface="DM Sans" pitchFamily="34" charset="-120"/>
              </a:rPr>
              <a:t>Variance explained</a:t>
            </a:r>
            <a:endParaRPr lang="en-US" sz="1300" dirty="0"/>
          </a:p>
        </p:txBody>
      </p:sp>
      <p:sp>
        <p:nvSpPr>
          <p:cNvPr id="10" name="Shape 8"/>
          <p:cNvSpPr/>
          <p:nvPr/>
        </p:nvSpPr>
        <p:spPr>
          <a:xfrm>
            <a:off x="8001000" y="2260470"/>
            <a:ext cx="1625600" cy="1208947"/>
          </a:xfrm>
          <a:prstGeom prst="roundRect">
            <a:avLst>
              <a:gd name="adj" fmla="val 8404"/>
            </a:avLst>
          </a:prstGeom>
          <a:solidFill>
            <a:srgbClr val="14202B"/>
          </a:solidFill>
          <a:ln/>
        </p:spPr>
      </p:sp>
      <p:sp>
        <p:nvSpPr>
          <p:cNvPr id="11" name="Text 9"/>
          <p:cNvSpPr/>
          <p:nvPr/>
        </p:nvSpPr>
        <p:spPr>
          <a:xfrm>
            <a:off x="8153400" y="2438270"/>
            <a:ext cx="13716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8833A"/>
                </a:solidFill>
                <a:latin typeface="DM Sans" pitchFamily="34" charset="0"/>
                <a:ea typeface="DM Sans" pitchFamily="34" charset="-122"/>
                <a:cs typeface="DM Sans" pitchFamily="34" charset="-120"/>
              </a:rPr>
              <a:t>[RMSE]</a:t>
            </a:r>
            <a:endParaRPr lang="en-US" sz="2800" dirty="0"/>
          </a:p>
        </p:txBody>
      </p:sp>
      <p:sp>
        <p:nvSpPr>
          <p:cNvPr id="12" name="Text 10"/>
          <p:cNvSpPr/>
          <p:nvPr/>
        </p:nvSpPr>
        <p:spPr>
          <a:xfrm>
            <a:off x="8153400" y="2829390"/>
            <a:ext cx="13716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1EA"/>
                </a:solidFill>
                <a:latin typeface="DM Sans" pitchFamily="34" charset="0"/>
                <a:ea typeface="DM Sans" pitchFamily="34" charset="-122"/>
                <a:cs typeface="DM Sans" pitchFamily="34" charset="-120"/>
              </a:rPr>
              <a:t>Typical error</a:t>
            </a:r>
            <a:endParaRPr lang="en-US" sz="1300" dirty="0"/>
          </a:p>
        </p:txBody>
      </p:sp>
      <p:sp>
        <p:nvSpPr>
          <p:cNvPr id="13" name="Shape 11"/>
          <p:cNvSpPr/>
          <p:nvPr/>
        </p:nvSpPr>
        <p:spPr>
          <a:xfrm>
            <a:off x="9753600" y="2260470"/>
            <a:ext cx="1625600" cy="1208947"/>
          </a:xfrm>
          <a:prstGeom prst="roundRect">
            <a:avLst>
              <a:gd name="adj" fmla="val 8404"/>
            </a:avLst>
          </a:prstGeom>
          <a:solidFill>
            <a:srgbClr val="14202B"/>
          </a:solidFill>
          <a:ln/>
        </p:spPr>
      </p:sp>
      <p:sp>
        <p:nvSpPr>
          <p:cNvPr id="14" name="Text 12"/>
          <p:cNvSpPr/>
          <p:nvPr/>
        </p:nvSpPr>
        <p:spPr>
          <a:xfrm>
            <a:off x="9906000" y="2438270"/>
            <a:ext cx="1371600" cy="41652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E8833A"/>
                </a:solidFill>
                <a:latin typeface="DM Sans" pitchFamily="34" charset="0"/>
                <a:ea typeface="DM Sans" pitchFamily="34" charset="-122"/>
                <a:cs typeface="DM Sans" pitchFamily="34" charset="-120"/>
              </a:rPr>
              <a:t>[MAE]</a:t>
            </a:r>
            <a:endParaRPr lang="en-US" sz="2800" dirty="0"/>
          </a:p>
        </p:txBody>
      </p:sp>
      <p:sp>
        <p:nvSpPr>
          <p:cNvPr id="15" name="Text 13"/>
          <p:cNvSpPr/>
          <p:nvPr/>
        </p:nvSpPr>
        <p:spPr>
          <a:xfrm>
            <a:off x="9906000" y="2829390"/>
            <a:ext cx="1371600"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1EA"/>
                </a:solidFill>
                <a:latin typeface="DM Sans" pitchFamily="34" charset="0"/>
                <a:ea typeface="DM Sans" pitchFamily="34" charset="-122"/>
                <a:cs typeface="DM Sans" pitchFamily="34" charset="-120"/>
              </a:rPr>
              <a:t>Average miss</a:t>
            </a:r>
            <a:endParaRPr lang="en-US" sz="1300" dirty="0"/>
          </a:p>
        </p:txBody>
      </p:sp>
      <p:sp>
        <p:nvSpPr>
          <p:cNvPr id="16" name="Text 14"/>
          <p:cNvSpPr/>
          <p:nvPr/>
        </p:nvSpPr>
        <p:spPr>
          <a:xfrm>
            <a:off x="6248400" y="3596416"/>
            <a:ext cx="528472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B6672"/>
                </a:solidFill>
                <a:latin typeface="DM Sans" pitchFamily="34" charset="0"/>
                <a:ea typeface="DM Sans" pitchFamily="34" charset="-122"/>
                <a:cs typeface="DM Sans" pitchFamily="34" charset="-120"/>
              </a:rPr>
              <a:t>Read the three values from the Numeric Scorer statistics tab.</a:t>
            </a:r>
            <a:endParaRPr lang="en-US" sz="1300" dirty="0"/>
          </a:p>
        </p:txBody>
      </p:sp>
      <p:sp>
        <p:nvSpPr>
          <p:cNvPr id="17" name="Text 15"/>
          <p:cNvSpPr/>
          <p:nvPr/>
        </p:nvSpPr>
        <p:spPr>
          <a:xfrm>
            <a:off x="815975" y="4135506"/>
            <a:ext cx="10560050" cy="855530"/>
          </a:xfrm>
          <a:prstGeom prst="roundRect">
            <a:avLst>
              <a:gd name="adj" fmla="val 11505"/>
            </a:avLst>
          </a:prstGeom>
          <a:solidFill>
            <a:srgbClr val="FFFDF8"/>
          </a:solidFill>
          <a:ln w="6350">
            <a:solidFill>
              <a:srgbClr val="E2DDD0"/>
            </a:solidFill>
            <a:prstDash val="solid"/>
          </a:ln>
        </p:spPr>
        <p:txBody>
          <a:bodyPr wrap="square" lIns="200831" tIns="150031" rIns="0" bIns="124631" rtlCol="0" anchor="t">
            <a:normAutofit/>
          </a:bodyPr>
          <a:lstStyle/>
          <a:p>
            <a:pPr algn="l" indent="0" marL="0">
              <a:lnSpc>
                <a:spcPts val="1960"/>
              </a:lnSpc>
              <a:buNone/>
            </a:pPr>
            <a:r>
              <a:rPr lang="en-US" sz="1400" b="1" dirty="0">
                <a:solidFill>
                  <a:srgbClr val="3A4651"/>
                </a:solidFill>
                <a:latin typeface="DM Sans" pitchFamily="34" charset="0"/>
                <a:ea typeface="DM Sans" pitchFamily="34" charset="-122"/>
                <a:cs typeface="DM Sans" pitchFamily="34" charset="-120"/>
              </a:rPr>
              <a:t>What it tells us:</a:t>
            </a:r>
            <a:r>
              <a:rPr lang="en-US" sz="1400" dirty="0">
                <a:solidFill>
                  <a:srgbClr val="3A4651"/>
                </a:solidFill>
                <a:latin typeface="DM Sans" pitchFamily="34" charset="0"/>
                <a:ea typeface="DM Sans" pitchFamily="34" charset="-122"/>
                <a:cs typeface="DM Sans" pitchFamily="34" charset="-120"/>
              </a:rPr>
              <a:t> the dashboards show higher price bands and larger store formats sell more, which is what the model draws on.</a:t>
            </a:r>
            <a:endParaRPr lang="en-US" sz="1400" dirty="0"/>
          </a:p>
        </p:txBody>
      </p:sp>
      <p:sp>
        <p:nvSpPr>
          <p:cNvPr id="18" name="Text 16"/>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19" name="Text 17"/>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BRANCH B</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Classification: predicting the sales tier</a:t>
            </a:r>
            <a:endParaRPr lang="en-US" sz="3200" dirty="0"/>
          </a:p>
        </p:txBody>
      </p:sp>
      <p:sp>
        <p:nvSpPr>
          <p:cNvPr id="4" name="Shape 2"/>
          <p:cNvSpPr/>
          <p:nvPr/>
        </p:nvSpPr>
        <p:spPr>
          <a:xfrm>
            <a:off x="812800" y="1874441"/>
            <a:ext cx="5435600" cy="2329127"/>
          </a:xfrm>
          <a:prstGeom prst="roundRect">
            <a:avLst>
              <a:gd name="adj" fmla="val 4362"/>
            </a:avLst>
          </a:prstGeom>
          <a:solidFill>
            <a:srgbClr val="14202B"/>
          </a:solidFill>
          <a:ln/>
        </p:spPr>
      </p:sp>
      <p:sp>
        <p:nvSpPr>
          <p:cNvPr id="5" name="Text 3"/>
          <p:cNvSpPr/>
          <p:nvPr/>
        </p:nvSpPr>
        <p:spPr>
          <a:xfrm>
            <a:off x="1066800" y="2128441"/>
            <a:ext cx="5075428"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E8833A"/>
                </a:solidFill>
                <a:latin typeface="DM Sans" pitchFamily="34" charset="0"/>
                <a:ea typeface="DM Sans" pitchFamily="34" charset="-122"/>
                <a:cs typeface="DM Sans" pitchFamily="34" charset="-120"/>
              </a:rPr>
              <a:t>56.4%</a:t>
            </a:r>
            <a:endParaRPr lang="en-US" sz="6000" dirty="0"/>
          </a:p>
        </p:txBody>
      </p:sp>
      <p:sp>
        <p:nvSpPr>
          <p:cNvPr id="6" name="Text 4"/>
          <p:cNvSpPr/>
          <p:nvPr/>
        </p:nvSpPr>
        <p:spPr>
          <a:xfrm>
            <a:off x="1066800" y="3017441"/>
            <a:ext cx="507542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4F1EA"/>
                </a:solidFill>
                <a:latin typeface="DM Sans" pitchFamily="34" charset="0"/>
                <a:ea typeface="DM Sans" pitchFamily="34" charset="-122"/>
                <a:cs typeface="DM Sans" pitchFamily="34" charset="-120"/>
              </a:rPr>
              <a:t>overall accuracy, Cohen's kappa 0.347</a:t>
            </a:r>
            <a:endParaRPr lang="en-US" sz="1500" dirty="0"/>
          </a:p>
        </p:txBody>
      </p:sp>
      <p:sp>
        <p:nvSpPr>
          <p:cNvPr id="7" name="Shape 5"/>
          <p:cNvSpPr/>
          <p:nvPr/>
        </p:nvSpPr>
        <p:spPr>
          <a:xfrm>
            <a:off x="1066800" y="3412399"/>
            <a:ext cx="1689100" cy="228600"/>
          </a:xfrm>
          <a:prstGeom prst="roundRect">
            <a:avLst>
              <a:gd name="adj" fmla="val 16667"/>
            </a:avLst>
          </a:prstGeom>
          <a:solidFill>
            <a:srgbClr val="A9B6C2"/>
          </a:solidFill>
          <a:ln/>
        </p:spPr>
      </p:sp>
      <p:sp>
        <p:nvSpPr>
          <p:cNvPr id="8" name="Text 6"/>
          <p:cNvSpPr/>
          <p:nvPr/>
        </p:nvSpPr>
        <p:spPr>
          <a:xfrm>
            <a:off x="2857500" y="3411141"/>
            <a:ext cx="1896824"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1EA"/>
                </a:solidFill>
                <a:latin typeface="DM Sans" pitchFamily="34" charset="0"/>
                <a:ea typeface="DM Sans" pitchFamily="34" charset="-122"/>
                <a:cs typeface="DM Sans" pitchFamily="34" charset="-120"/>
              </a:rPr>
              <a:t>33.3% random guess</a:t>
            </a:r>
            <a:endParaRPr lang="en-US" sz="1300" dirty="0"/>
          </a:p>
        </p:txBody>
      </p:sp>
      <p:sp>
        <p:nvSpPr>
          <p:cNvPr id="9" name="Shape 7"/>
          <p:cNvSpPr/>
          <p:nvPr/>
        </p:nvSpPr>
        <p:spPr>
          <a:xfrm>
            <a:off x="1066800" y="3719711"/>
            <a:ext cx="2863850" cy="228600"/>
          </a:xfrm>
          <a:prstGeom prst="roundRect">
            <a:avLst>
              <a:gd name="adj" fmla="val 16667"/>
            </a:avLst>
          </a:prstGeom>
          <a:solidFill>
            <a:srgbClr val="E8833A"/>
          </a:solidFill>
          <a:ln/>
        </p:spPr>
      </p:sp>
      <p:sp>
        <p:nvSpPr>
          <p:cNvPr id="10" name="Text 8"/>
          <p:cNvSpPr/>
          <p:nvPr/>
        </p:nvSpPr>
        <p:spPr>
          <a:xfrm>
            <a:off x="4032250" y="3718458"/>
            <a:ext cx="1179671"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4F1EA"/>
                </a:solidFill>
                <a:latin typeface="DM Sans" pitchFamily="34" charset="0"/>
                <a:ea typeface="DM Sans" pitchFamily="34" charset="-122"/>
                <a:cs typeface="DM Sans" pitchFamily="34" charset="-120"/>
              </a:rPr>
              <a:t>56.4% model</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64300" y="1887141"/>
          <a:ext cx="4914900" cy="1543844"/>
        </p:xfrm>
        <a:graphic>
          <a:graphicData uri="http://schemas.openxmlformats.org/drawingml/2006/table">
            <a:tbl>
              <a:tblPr/>
              <a:tblGrid>
                <a:gridCol w="2948940"/>
                <a:gridCol w="1965960"/>
              </a:tblGrid>
              <a:tr h="385961">
                <a:tc>
                  <a:txBody>
                    <a:bodyPr/>
                    <a:lstStyle/>
                    <a:p>
                      <a:pPr indent="0" marL="0">
                        <a:lnSpc>
                          <a:spcPts val="1960"/>
                        </a:lnSpc>
                        <a:buNone/>
                      </a:pPr>
                      <a:r>
                        <a:rPr lang="en-US" sz="1400" b="1" dirty="0">
                          <a:solidFill>
                            <a:srgbClr val="14202B"/>
                          </a:solidFill>
                          <a:latin typeface="DM Sans" pitchFamily="34" charset="0"/>
                          <a:ea typeface="DM Sans" pitchFamily="34" charset="-122"/>
                          <a:cs typeface="DM Sans" pitchFamily="34" charset="-120"/>
                        </a:rPr>
                        <a:t>Tier</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c>
                  <a:txBody>
                    <a:bodyPr/>
                    <a:lstStyle/>
                    <a:p>
                      <a:pPr indent="0" marL="0">
                        <a:lnSpc>
                          <a:spcPts val="1960"/>
                        </a:lnSpc>
                        <a:buNone/>
                      </a:pPr>
                      <a:r>
                        <a:rPr lang="en-US" sz="1400" b="1" dirty="0">
                          <a:solidFill>
                            <a:srgbClr val="14202B"/>
                          </a:solidFill>
                          <a:latin typeface="DM Sans" pitchFamily="34" charset="0"/>
                          <a:ea typeface="DM Sans" pitchFamily="34" charset="-122"/>
                          <a:cs typeface="DM Sans" pitchFamily="34" charset="-120"/>
                        </a:rPr>
                        <a:t>Precision</a:t>
                      </a:r>
                      <a:endParaRPr lang="en-US" sz="1400" dirty="0">
                        <a:latin typeface="DM Sans" charset="0"/>
                        <a:ea typeface="DM Sans" charset="0"/>
                        <a:cs typeface="DM Sans" charset="0"/>
                      </a:endParaRPr>
                    </a:p>
                  </a:txBody>
                  <a:tcPr marL="62230" marR="62230" marT="62230" marB="62230" anchor="t">
                    <a:lnL w="12700" cap="flat" cmpd="sng" algn="ctr">
                      <a:solidFill>
                        <a:srgbClr val="B6B4AF"/>
                      </a:solidFill>
                      <a:prstDash val="solid"/>
                      <a:round/>
                      <a:headEnd type="none" w="med" len="med"/>
                      <a:tailEnd type="none" w="med" len="med"/>
                    </a:lnL>
                    <a:lnR w="12700" cap="flat" cmpd="sng" algn="ctr">
                      <a:solidFill>
                        <a:srgbClr val="B6B4AF"/>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B6B4AF"/>
                      </a:solidFill>
                      <a:prstDash val="solid"/>
                      <a:round/>
                      <a:headEnd type="none" w="med" len="med"/>
                      <a:tailEnd type="none" w="med" len="med"/>
                    </a:lnB>
                    <a:solidFill>
                      <a:srgbClr val="E4E1DB"/>
                    </a:solidFill>
                  </a:tcPr>
                </a:tc>
              </a:tr>
              <a:tr h="385961">
                <a:tc>
                  <a:txBody>
                    <a:bodyPr/>
                    <a:lstStyle/>
                    <a:p>
                      <a:pPr indent="0" marL="0">
                        <a:lnSpc>
                          <a:spcPts val="1960"/>
                        </a:lnSpc>
                        <a:buNone/>
                      </a:pPr>
                      <a:r>
                        <a:rPr lang="en-US" sz="1400" dirty="0">
                          <a:solidFill>
                            <a:srgbClr val="14202B"/>
                          </a:solidFill>
                          <a:latin typeface="DM Sans" pitchFamily="34" charset="0"/>
                          <a:ea typeface="DM Sans" pitchFamily="34" charset="-122"/>
                          <a:cs typeface="DM Sans" pitchFamily="34" charset="-120"/>
                        </a:rPr>
                        <a:t>Tier 1 (low)</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02B"/>
                          </a:solidFill>
                          <a:latin typeface="DM Sans" pitchFamily="34" charset="0"/>
                          <a:ea typeface="DM Sans" pitchFamily="34" charset="-122"/>
                          <a:cs typeface="DM Sans" pitchFamily="34" charset="-120"/>
                        </a:rPr>
                        <a:t>0.562</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B6B4AF"/>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02B"/>
                          </a:solidFill>
                          <a:latin typeface="DM Sans" pitchFamily="34" charset="0"/>
                          <a:ea typeface="DM Sans" pitchFamily="34" charset="-122"/>
                          <a:cs typeface="DM Sans" pitchFamily="34" charset="-120"/>
                        </a:rPr>
                        <a:t>Tier 2 (medium)</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02B"/>
                          </a:solidFill>
                          <a:latin typeface="DM Sans" pitchFamily="34" charset="0"/>
                          <a:ea typeface="DM Sans" pitchFamily="34" charset="-122"/>
                          <a:cs typeface="DM Sans" pitchFamily="34" charset="-120"/>
                        </a:rPr>
                        <a:t>0.872</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02B"/>
                          </a:solidFill>
                          <a:latin typeface="DM Sans" pitchFamily="34" charset="0"/>
                          <a:ea typeface="DM Sans" pitchFamily="34" charset="-122"/>
                          <a:cs typeface="DM Sans" pitchFamily="34" charset="-120"/>
                        </a:rPr>
                        <a:t>Tier 3 (high)</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c>
                  <a:txBody>
                    <a:bodyPr/>
                    <a:lstStyle/>
                    <a:p>
                      <a:pPr indent="0" marL="0">
                        <a:lnSpc>
                          <a:spcPts val="1960"/>
                        </a:lnSpc>
                        <a:buNone/>
                      </a:pPr>
                      <a:r>
                        <a:rPr lang="en-US" sz="1400" dirty="0">
                          <a:solidFill>
                            <a:srgbClr val="14202B"/>
                          </a:solidFill>
                          <a:latin typeface="DM Sans" pitchFamily="34" charset="0"/>
                          <a:ea typeface="DM Sans" pitchFamily="34" charset="-122"/>
                          <a:cs typeface="DM Sans" pitchFamily="34" charset="-120"/>
                        </a:rPr>
                        <a:t>0.430</a:t>
                      </a:r>
                      <a:endParaRPr lang="en-US" sz="1400" dirty="0">
                        <a:latin typeface="DM Sans" charset="0"/>
                        <a:ea typeface="DM Sans" charset="0"/>
                        <a:cs typeface="DM Sans" charset="0"/>
                      </a:endParaRPr>
                    </a:p>
                  </a:txBody>
                  <a:tcPr marL="62230" marR="62230" marT="62230" marB="62230" anchor="t">
                    <a:lnL w="12700" cap="flat" cmpd="sng" algn="ctr">
                      <a:solidFill>
                        <a:srgbClr val="C4C2BC"/>
                      </a:solidFill>
                      <a:prstDash val="solid"/>
                      <a:round/>
                      <a:headEnd type="none" w="med" len="med"/>
                      <a:tailEnd type="none" w="med" len="med"/>
                    </a:lnL>
                    <a:lnR w="12700" cap="flat" cmpd="sng" algn="ctr">
                      <a:solidFill>
                        <a:srgbClr val="C4C2BC"/>
                      </a:solidFill>
                      <a:prstDash val="solid"/>
                      <a:round/>
                      <a:headEnd type="none" w="med" len="med"/>
                      <a:tailEnd type="none" w="med" len="med"/>
                    </a:lnR>
                    <a:lnT w="12700" cap="flat" cmpd="sng" algn="ctr">
                      <a:solidFill>
                        <a:srgbClr val="C4C2BC"/>
                      </a:solidFill>
                      <a:prstDash val="solid"/>
                      <a:round/>
                      <a:headEnd type="none" w="med" len="med"/>
                      <a:tailEnd type="none" w="med" len="med"/>
                    </a:lnT>
                    <a:lnB w="12700" cap="flat" cmpd="sng" algn="ctr">
                      <a:solidFill>
                        <a:srgbClr val="C4C2BC"/>
                      </a:solidFill>
                      <a:prstDash val="solid"/>
                      <a:round/>
                      <a:headEnd type="none" w="med" len="med"/>
                      <a:tailEnd type="none" w="med" len="med"/>
                    </a:lnB>
                  </a:tcPr>
                </a:tc>
              </a:tr>
            </a:tbl>
          </a:graphicData>
        </a:graphic>
      </p:graphicFrame>
      <p:sp>
        <p:nvSpPr>
          <p:cNvPr id="12" name="Text 9"/>
          <p:cNvSpPr/>
          <p:nvPr/>
        </p:nvSpPr>
        <p:spPr>
          <a:xfrm>
            <a:off x="6451600" y="3557984"/>
            <a:ext cx="507542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651"/>
                </a:solidFill>
                <a:latin typeface="DM Sans" pitchFamily="34" charset="0"/>
                <a:ea typeface="DM Sans" pitchFamily="34" charset="-122"/>
                <a:cs typeface="DM Sans" pitchFamily="34" charset="-120"/>
              </a:rPr>
              <a:t>Tier 2 has an F-measure of 0.702. Tier cutoffs sit inside a continuous range, so items near a boundary are easy to mix up.</a:t>
            </a:r>
            <a:endParaRPr lang="en-US" sz="1300" dirty="0"/>
          </a:p>
        </p:txBody>
      </p:sp>
      <p:sp>
        <p:nvSpPr>
          <p:cNvPr id="13" name="Text 10"/>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14" name="Text 1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VISUALIZATION IN TABLEAU</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Three dashboards, three questions</a:t>
            </a:r>
            <a:endParaRPr lang="en-US" sz="3200" dirty="0"/>
          </a:p>
        </p:txBody>
      </p:sp>
      <p:sp>
        <p:nvSpPr>
          <p:cNvPr id="4" name="Text 2"/>
          <p:cNvSpPr/>
          <p:nvPr/>
        </p:nvSpPr>
        <p:spPr>
          <a:xfrm>
            <a:off x="812800" y="1823641"/>
            <a:ext cx="98107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A4651"/>
                </a:solidFill>
                <a:latin typeface="DM Sans" pitchFamily="34" charset="0"/>
                <a:ea typeface="DM Sans" pitchFamily="34" charset="-122"/>
                <a:cs typeface="DM Sans" pitchFamily="34" charset="-120"/>
              </a:rPr>
              <a:t>The cleaned CSV exported from KNIME feeds Tableau, so the charts use the same data the models were trained on.</a:t>
            </a:r>
            <a:endParaRPr lang="en-US" sz="1500" dirty="0"/>
          </a:p>
        </p:txBody>
      </p:sp>
      <p:sp>
        <p:nvSpPr>
          <p:cNvPr id="5" name="Shape 3"/>
          <p:cNvSpPr/>
          <p:nvPr/>
        </p:nvSpPr>
        <p:spPr>
          <a:xfrm>
            <a:off x="815975" y="2614216"/>
            <a:ext cx="3380317" cy="1863791"/>
          </a:xfrm>
          <a:prstGeom prst="roundRect">
            <a:avLst>
              <a:gd name="adj" fmla="val 5281"/>
            </a:avLst>
          </a:prstGeom>
          <a:solidFill>
            <a:srgbClr val="FFFDF8"/>
          </a:solidFill>
          <a:ln w="6350">
            <a:solidFill>
              <a:srgbClr val="E2DDD0"/>
            </a:solidFill>
            <a:prstDash val="solid"/>
          </a:ln>
        </p:spPr>
      </p:sp>
      <p:sp>
        <p:nvSpPr>
          <p:cNvPr id="6" name="Text 4"/>
          <p:cNvSpPr/>
          <p:nvPr/>
        </p:nvSpPr>
        <p:spPr>
          <a:xfrm>
            <a:off x="1045633" y="2843876"/>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F6E9A"/>
                </a:solidFill>
                <a:latin typeface="DM Sans" pitchFamily="34" charset="0"/>
                <a:ea typeface="DM Sans" pitchFamily="34" charset="-122"/>
                <a:cs typeface="DM Sans" pitchFamily="34" charset="-120"/>
              </a:rPr>
              <a:t>Sales Overview</a:t>
            </a:r>
            <a:endParaRPr lang="en-US" sz="1700" dirty="0"/>
          </a:p>
        </p:txBody>
      </p:sp>
      <p:sp>
        <p:nvSpPr>
          <p:cNvPr id="7" name="Text 5"/>
          <p:cNvSpPr/>
          <p:nvPr/>
        </p:nvSpPr>
        <p:spPr>
          <a:xfrm>
            <a:off x="1045633" y="3204505"/>
            <a:ext cx="30086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DM Sans" pitchFamily="34" charset="0"/>
                <a:ea typeface="DM Sans" pitchFamily="34" charset="-122"/>
                <a:cs typeface="DM Sans" pitchFamily="34" charset="-120"/>
              </a:rPr>
              <a:t>Where does revenue come from?</a:t>
            </a:r>
            <a:endParaRPr lang="en-US" sz="1400" dirty="0"/>
          </a:p>
        </p:txBody>
      </p:sp>
      <p:sp>
        <p:nvSpPr>
          <p:cNvPr id="8" name="Text 6"/>
          <p:cNvSpPr/>
          <p:nvPr/>
        </p:nvSpPr>
        <p:spPr>
          <a:xfrm>
            <a:off x="1045633" y="3555008"/>
            <a:ext cx="300863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651"/>
                </a:solidFill>
                <a:latin typeface="DM Sans" pitchFamily="34" charset="0"/>
                <a:ea typeface="DM Sans" pitchFamily="34" charset="-122"/>
                <a:cs typeface="DM Sans" pitchFamily="34" charset="-120"/>
              </a:rPr>
              <a:t>KPIs, sales by outlet type, by item type and by outlet age give a quick picture of the whole business.</a:t>
            </a:r>
            <a:endParaRPr lang="en-US" sz="1300" dirty="0"/>
          </a:p>
        </p:txBody>
      </p:sp>
      <p:sp>
        <p:nvSpPr>
          <p:cNvPr id="9" name="Shape 7"/>
          <p:cNvSpPr/>
          <p:nvPr/>
        </p:nvSpPr>
        <p:spPr>
          <a:xfrm>
            <a:off x="4405842" y="2614216"/>
            <a:ext cx="3380317" cy="1863791"/>
          </a:xfrm>
          <a:prstGeom prst="roundRect">
            <a:avLst>
              <a:gd name="adj" fmla="val 5281"/>
            </a:avLst>
          </a:prstGeom>
          <a:solidFill>
            <a:srgbClr val="FFFDF8"/>
          </a:solidFill>
          <a:ln w="6350">
            <a:solidFill>
              <a:srgbClr val="E2DDD0"/>
            </a:solidFill>
            <a:prstDash val="solid"/>
          </a:ln>
        </p:spPr>
      </p:sp>
      <p:sp>
        <p:nvSpPr>
          <p:cNvPr id="10" name="Text 8"/>
          <p:cNvSpPr/>
          <p:nvPr/>
        </p:nvSpPr>
        <p:spPr>
          <a:xfrm>
            <a:off x="4635500" y="2843876"/>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F6E9A"/>
                </a:solidFill>
                <a:latin typeface="DM Sans" pitchFamily="34" charset="0"/>
                <a:ea typeface="DM Sans" pitchFamily="34" charset="-122"/>
                <a:cs typeface="DM Sans" pitchFamily="34" charset="-120"/>
              </a:rPr>
              <a:t>Outlet Performance</a:t>
            </a:r>
            <a:endParaRPr lang="en-US" sz="1700" dirty="0"/>
          </a:p>
        </p:txBody>
      </p:sp>
      <p:sp>
        <p:nvSpPr>
          <p:cNvPr id="11" name="Text 9"/>
          <p:cNvSpPr/>
          <p:nvPr/>
        </p:nvSpPr>
        <p:spPr>
          <a:xfrm>
            <a:off x="4635500" y="3204505"/>
            <a:ext cx="30086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DM Sans" pitchFamily="34" charset="0"/>
                <a:ea typeface="DM Sans" pitchFamily="34" charset="-122"/>
                <a:cs typeface="DM Sans" pitchFamily="34" charset="-120"/>
              </a:rPr>
              <a:t>Which stores perform, and why?</a:t>
            </a:r>
            <a:endParaRPr lang="en-US" sz="1400" dirty="0"/>
          </a:p>
        </p:txBody>
      </p:sp>
      <p:sp>
        <p:nvSpPr>
          <p:cNvPr id="12" name="Text 10"/>
          <p:cNvSpPr/>
          <p:nvPr/>
        </p:nvSpPr>
        <p:spPr>
          <a:xfrm>
            <a:off x="4635500" y="3555008"/>
            <a:ext cx="300863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651"/>
                </a:solidFill>
                <a:latin typeface="DM Sans" pitchFamily="34" charset="0"/>
                <a:ea typeface="DM Sans" pitchFamily="34" charset="-122"/>
                <a:cs typeface="DM Sans" pitchFamily="34" charset="-120"/>
              </a:rPr>
              <a:t>A ranking, a size by type matrix and box plots compare stores on share, format and spread.</a:t>
            </a:r>
            <a:endParaRPr lang="en-US" sz="1300" dirty="0"/>
          </a:p>
        </p:txBody>
      </p:sp>
      <p:sp>
        <p:nvSpPr>
          <p:cNvPr id="13" name="Shape 11"/>
          <p:cNvSpPr/>
          <p:nvPr/>
        </p:nvSpPr>
        <p:spPr>
          <a:xfrm>
            <a:off x="7995709" y="2614216"/>
            <a:ext cx="3380317" cy="1863791"/>
          </a:xfrm>
          <a:prstGeom prst="roundRect">
            <a:avLst>
              <a:gd name="adj" fmla="val 5281"/>
            </a:avLst>
          </a:prstGeom>
          <a:solidFill>
            <a:srgbClr val="FFFDF8"/>
          </a:solidFill>
          <a:ln w="6350">
            <a:solidFill>
              <a:srgbClr val="E2DDD0"/>
            </a:solidFill>
            <a:prstDash val="solid"/>
          </a:ln>
        </p:spPr>
      </p:sp>
      <p:sp>
        <p:nvSpPr>
          <p:cNvPr id="14" name="Text 12"/>
          <p:cNvSpPr/>
          <p:nvPr/>
        </p:nvSpPr>
        <p:spPr>
          <a:xfrm>
            <a:off x="8225367" y="2843876"/>
            <a:ext cx="3008630" cy="284427"/>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3F6E9A"/>
                </a:solidFill>
                <a:latin typeface="DM Sans" pitchFamily="34" charset="0"/>
                <a:ea typeface="DM Sans" pitchFamily="34" charset="-122"/>
                <a:cs typeface="DM Sans" pitchFamily="34" charset="-120"/>
              </a:rPr>
              <a:t>Product and Pricing</a:t>
            </a:r>
            <a:endParaRPr lang="en-US" sz="1700" dirty="0"/>
          </a:p>
        </p:txBody>
      </p:sp>
      <p:sp>
        <p:nvSpPr>
          <p:cNvPr id="15" name="Text 13"/>
          <p:cNvSpPr/>
          <p:nvPr/>
        </p:nvSpPr>
        <p:spPr>
          <a:xfrm>
            <a:off x="8225367" y="3204505"/>
            <a:ext cx="3008630"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4202B"/>
                </a:solidFill>
                <a:latin typeface="DM Sans" pitchFamily="34" charset="0"/>
                <a:ea typeface="DM Sans" pitchFamily="34" charset="-122"/>
                <a:cs typeface="DM Sans" pitchFamily="34" charset="-120"/>
              </a:rPr>
              <a:t>What drives item sales?</a:t>
            </a:r>
            <a:endParaRPr lang="en-US" sz="1400" dirty="0"/>
          </a:p>
        </p:txBody>
      </p:sp>
      <p:sp>
        <p:nvSpPr>
          <p:cNvPr id="16" name="Text 14"/>
          <p:cNvSpPr/>
          <p:nvPr/>
        </p:nvSpPr>
        <p:spPr>
          <a:xfrm>
            <a:off x="8225367" y="3555008"/>
            <a:ext cx="3008630"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651"/>
                </a:solidFill>
                <a:latin typeface="DM Sans" pitchFamily="34" charset="0"/>
                <a:ea typeface="DM Sans" pitchFamily="34" charset="-122"/>
                <a:cs typeface="DM Sans" pitchFamily="34" charset="-120"/>
              </a:rPr>
              <a:t>Visibility, price bands, sales bands and top items test the product-side factors behind the models.</a:t>
            </a:r>
            <a:endParaRPr lang="en-US" sz="1300" dirty="0"/>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DASHBOARD 1</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Sales Overview</a:t>
            </a:r>
            <a:endParaRPr lang="en-US" sz="3200" dirty="0"/>
          </a:p>
        </p:txBody>
      </p:sp>
      <p:sp>
        <p:nvSpPr>
          <p:cNvPr id="4" name="Shape 2"/>
          <p:cNvSpPr/>
          <p:nvPr/>
        </p:nvSpPr>
        <p:spPr>
          <a:xfrm>
            <a:off x="812800" y="1823641"/>
            <a:ext cx="6350000" cy="3448050"/>
          </a:xfrm>
          <a:prstGeom prst="roundRect">
            <a:avLst>
              <a:gd name="adj" fmla="val 2210"/>
            </a:avLst>
          </a:prstGeom>
          <a:solidFill>
            <a:srgbClr val="FFFFFF"/>
          </a:solidFill>
          <a:ln/>
        </p:spPr>
      </p:sp>
      <p:pic>
        <p:nvPicPr>
          <p:cNvPr id="5" name="Image 0" descr="Sales Overview dashboard with KPIs, sales by outlet type, sales by item type and sales by outlet age">    </p:cNvPr>
          <p:cNvPicPr>
            <a:picLocks noChangeAspect="1"/>
          </p:cNvPicPr>
          <p:nvPr/>
        </p:nvPicPr>
        <p:blipFill>
          <a:blip r:embed="rId1"/>
          <a:srcRect l="0" r="0" t="-77" b="-77"/>
          <a:stretch/>
        </p:blipFill>
        <p:spPr>
          <a:xfrm>
            <a:off x="819150" y="1829991"/>
            <a:ext cx="6337300" cy="3435350"/>
          </a:xfrm>
          <a:prstGeom prst="roundRect">
            <a:avLst>
              <a:gd name="adj" fmla="val 2033"/>
            </a:avLst>
          </a:prstGeom>
        </p:spPr>
      </p:pic>
      <p:sp>
        <p:nvSpPr>
          <p:cNvPr id="6" name="Shape 3"/>
          <p:cNvSpPr/>
          <p:nvPr/>
        </p:nvSpPr>
        <p:spPr>
          <a:xfrm>
            <a:off x="815975" y="1826816"/>
            <a:ext cx="6343650" cy="3441700"/>
          </a:xfrm>
          <a:prstGeom prst="roundRect">
            <a:avLst>
              <a:gd name="adj" fmla="val 2122"/>
            </a:avLst>
          </a:prstGeom>
          <a:noFill/>
          <a:ln w="6350">
            <a:solidFill>
              <a:srgbClr val="E2DDD0"/>
            </a:solidFill>
            <a:prstDash val="solid"/>
          </a:ln>
        </p:spPr>
      </p:sp>
      <p:sp>
        <p:nvSpPr>
          <p:cNvPr id="7" name="Text 4"/>
          <p:cNvSpPr/>
          <p:nvPr/>
        </p:nvSpPr>
        <p:spPr>
          <a:xfrm>
            <a:off x="7467600" y="1823641"/>
            <a:ext cx="40289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3F6E9A"/>
                </a:solidFill>
                <a:latin typeface="DM Sans" pitchFamily="34" charset="0"/>
                <a:ea typeface="DM Sans" pitchFamily="34" charset="-122"/>
                <a:cs typeface="DM Sans" pitchFamily="34" charset="-120"/>
              </a:rPr>
              <a:t>What it shows</a:t>
            </a:r>
            <a:endParaRPr lang="en-US" sz="1500" dirty="0"/>
          </a:p>
        </p:txBody>
      </p:sp>
      <p:sp>
        <p:nvSpPr>
          <p:cNvPr id="8" name="Text 5"/>
          <p:cNvSpPr/>
          <p:nvPr/>
        </p:nvSpPr>
        <p:spPr>
          <a:xfrm>
            <a:off x="7559294" y="2179241"/>
            <a:ext cx="3929634" cy="1412081"/>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3A4651"/>
                </a:solidFill>
                <a:latin typeface="DM Sans" pitchFamily="34" charset="0"/>
                <a:ea typeface="DM Sans" pitchFamily="34" charset="-122"/>
                <a:cs typeface="DM Sans" pitchFamily="34" charset="-120"/>
              </a:rPr>
              <a:t>18.6M total sales across 10 outlets, with an average MRP of 141</a:t>
            </a:r>
            <a:endParaRPr lang="en-US" sz="1300" dirty="0"/>
          </a:p>
          <a:p>
            <a:pPr algn="l" marL="162306" indent="-162306">
              <a:lnSpc>
                <a:spcPts val="1820"/>
              </a:lnSpc>
              <a:buSzPct val="100000"/>
              <a:buChar char="•"/>
            </a:pPr>
            <a:r>
              <a:rPr lang="en-US" sz="1300" dirty="0">
                <a:solidFill>
                  <a:srgbClr val="3A4651"/>
                </a:solidFill>
                <a:latin typeface="DM Sans" pitchFamily="34" charset="0"/>
                <a:ea typeface="DM Sans" pitchFamily="34" charset="-122"/>
                <a:cs typeface="DM Sans" pitchFamily="34" charset="-120"/>
              </a:rPr>
              <a:t>Supermarket Type1 holds about 69% of sales and Type3 about 19%</a:t>
            </a:r>
            <a:endParaRPr lang="en-US" sz="1300" dirty="0"/>
          </a:p>
          <a:p>
            <a:pPr algn="l" marL="162306" indent="-162306">
              <a:lnSpc>
                <a:spcPts val="1820"/>
              </a:lnSpc>
              <a:buSzPct val="100000"/>
              <a:buChar char="•"/>
            </a:pPr>
            <a:r>
              <a:rPr lang="en-US" sz="1300" dirty="0">
                <a:solidFill>
                  <a:srgbClr val="3A4651"/>
                </a:solidFill>
                <a:latin typeface="DM Sans" pitchFamily="34" charset="0"/>
                <a:ea typeface="DM Sans" pitchFamily="34" charset="-122"/>
                <a:cs typeface="DM Sans" pitchFamily="34" charset="-120"/>
              </a:rPr>
              <a:t>Fruits and Vegetables and Snack Foods lead the item types</a:t>
            </a:r>
            <a:endParaRPr lang="en-US" sz="1300" dirty="0"/>
          </a:p>
        </p:txBody>
      </p:sp>
      <p:sp>
        <p:nvSpPr>
          <p:cNvPr id="9" name="Text 6"/>
          <p:cNvSpPr/>
          <p:nvPr/>
        </p:nvSpPr>
        <p:spPr>
          <a:xfrm>
            <a:off x="7467600" y="3692922"/>
            <a:ext cx="40289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3F6E9A"/>
                </a:solidFill>
                <a:latin typeface="DM Sans" pitchFamily="34" charset="0"/>
                <a:ea typeface="DM Sans" pitchFamily="34" charset="-122"/>
                <a:cs typeface="DM Sans" pitchFamily="34" charset="-120"/>
              </a:rPr>
              <a:t>Why we chose it</a:t>
            </a:r>
            <a:endParaRPr lang="en-US" sz="1500" dirty="0"/>
          </a:p>
        </p:txBody>
      </p:sp>
      <p:sp>
        <p:nvSpPr>
          <p:cNvPr id="10" name="Text 7"/>
          <p:cNvSpPr/>
          <p:nvPr/>
        </p:nvSpPr>
        <p:spPr>
          <a:xfrm>
            <a:off x="7467600" y="4048522"/>
            <a:ext cx="402894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651"/>
                </a:solidFill>
                <a:latin typeface="DM Sans" pitchFamily="34" charset="0"/>
                <a:ea typeface="DM Sans" pitchFamily="34" charset="-122"/>
                <a:cs typeface="DM Sans" pitchFamily="34" charset="-120"/>
              </a:rPr>
              <a:t>KPIs summarize the business, and the bar charts compare store format, product mix and store age.</a:t>
            </a:r>
            <a:endParaRPr lang="en-US" sz="1300" dirty="0"/>
          </a:p>
        </p:txBody>
      </p:sp>
      <p:sp>
        <p:nvSpPr>
          <p:cNvPr id="11"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DASHBOARD 2</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Outlet Performance</a:t>
            </a:r>
            <a:endParaRPr lang="en-US" sz="3200" dirty="0"/>
          </a:p>
        </p:txBody>
      </p:sp>
      <p:sp>
        <p:nvSpPr>
          <p:cNvPr id="4" name="Shape 2"/>
          <p:cNvSpPr/>
          <p:nvPr/>
        </p:nvSpPr>
        <p:spPr>
          <a:xfrm>
            <a:off x="812800" y="1823641"/>
            <a:ext cx="6350000" cy="3994150"/>
          </a:xfrm>
          <a:prstGeom prst="roundRect">
            <a:avLst>
              <a:gd name="adj" fmla="val 1908"/>
            </a:avLst>
          </a:prstGeom>
          <a:solidFill>
            <a:srgbClr val="FFFFFF"/>
          </a:solidFill>
          <a:ln/>
        </p:spPr>
      </p:sp>
      <p:pic>
        <p:nvPicPr>
          <p:cNvPr id="5" name="Image 0" descr="Outlet Performance dashboard with an outlet ranking, a size by type matrix and sales distribution box plots">    </p:cNvPr>
          <p:cNvPicPr>
            <a:picLocks noChangeAspect="1"/>
          </p:cNvPicPr>
          <p:nvPr/>
        </p:nvPicPr>
        <p:blipFill>
          <a:blip r:embed="rId1"/>
          <a:srcRect l="0" r="0" t="-67" b="-67"/>
          <a:stretch/>
        </p:blipFill>
        <p:spPr>
          <a:xfrm>
            <a:off x="819150" y="1829991"/>
            <a:ext cx="6337300" cy="3981450"/>
          </a:xfrm>
          <a:prstGeom prst="roundRect">
            <a:avLst>
              <a:gd name="adj" fmla="val 1754"/>
            </a:avLst>
          </a:prstGeom>
        </p:spPr>
      </p:pic>
      <p:sp>
        <p:nvSpPr>
          <p:cNvPr id="6" name="Shape 3"/>
          <p:cNvSpPr/>
          <p:nvPr/>
        </p:nvSpPr>
        <p:spPr>
          <a:xfrm>
            <a:off x="815975" y="1826816"/>
            <a:ext cx="6343650" cy="3987800"/>
          </a:xfrm>
          <a:prstGeom prst="roundRect">
            <a:avLst>
              <a:gd name="adj" fmla="val 1831"/>
            </a:avLst>
          </a:prstGeom>
          <a:noFill/>
          <a:ln w="6350">
            <a:solidFill>
              <a:srgbClr val="E2DDD0"/>
            </a:solidFill>
            <a:prstDash val="solid"/>
          </a:ln>
        </p:spPr>
      </p:sp>
      <p:sp>
        <p:nvSpPr>
          <p:cNvPr id="7" name="Text 4"/>
          <p:cNvSpPr/>
          <p:nvPr/>
        </p:nvSpPr>
        <p:spPr>
          <a:xfrm>
            <a:off x="7467600" y="1823641"/>
            <a:ext cx="40289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3F6E9A"/>
                </a:solidFill>
                <a:latin typeface="DM Sans" pitchFamily="34" charset="0"/>
                <a:ea typeface="DM Sans" pitchFamily="34" charset="-122"/>
                <a:cs typeface="DM Sans" pitchFamily="34" charset="-120"/>
              </a:rPr>
              <a:t>What it shows</a:t>
            </a:r>
            <a:endParaRPr lang="en-US" sz="1500" dirty="0"/>
          </a:p>
        </p:txBody>
      </p:sp>
      <p:sp>
        <p:nvSpPr>
          <p:cNvPr id="8" name="Text 5"/>
          <p:cNvSpPr/>
          <p:nvPr/>
        </p:nvSpPr>
        <p:spPr>
          <a:xfrm>
            <a:off x="7559294" y="2179241"/>
            <a:ext cx="3929634" cy="1412081"/>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3A4651"/>
                </a:solidFill>
                <a:latin typeface="DM Sans" pitchFamily="34" charset="0"/>
                <a:ea typeface="DM Sans" pitchFamily="34" charset="-122"/>
                <a:cs typeface="DM Sans" pitchFamily="34" charset="-120"/>
              </a:rPr>
              <a:t>OUT027 alone gives about 19% of sales; the two grocery stores give about 1% each</a:t>
            </a:r>
            <a:endParaRPr lang="en-US" sz="1300" dirty="0"/>
          </a:p>
          <a:p>
            <a:pPr algn="l" marL="162306" indent="-162306">
              <a:lnSpc>
                <a:spcPts val="1820"/>
              </a:lnSpc>
              <a:buSzPct val="100000"/>
              <a:buChar char="•"/>
            </a:pPr>
            <a:r>
              <a:rPr lang="en-US" sz="1300" dirty="0">
                <a:solidFill>
                  <a:srgbClr val="3A4651"/>
                </a:solidFill>
                <a:latin typeface="DM Sans" pitchFamily="34" charset="0"/>
                <a:ea typeface="DM Sans" pitchFamily="34" charset="-122"/>
                <a:cs typeface="DM Sans" pitchFamily="34" charset="-120"/>
              </a:rPr>
              <a:t>Medium Supermarket Type1 outlets total 6.4M, small ones 4.4M</a:t>
            </a:r>
            <a:endParaRPr lang="en-US" sz="1300" dirty="0"/>
          </a:p>
          <a:p>
            <a:pPr algn="l" marL="162306" indent="-162306">
              <a:lnSpc>
                <a:spcPts val="1820"/>
              </a:lnSpc>
              <a:buSzPct val="100000"/>
              <a:buChar char="•"/>
            </a:pPr>
            <a:r>
              <a:rPr lang="en-US" sz="1300" dirty="0">
                <a:solidFill>
                  <a:srgbClr val="3A4651"/>
                </a:solidFill>
                <a:latin typeface="DM Sans" pitchFamily="34" charset="0"/>
                <a:ea typeface="DM Sans" pitchFamily="34" charset="-122"/>
                <a:cs typeface="DM Sans" pitchFamily="34" charset="-120"/>
              </a:rPr>
              <a:t>OUT027 shows the widest spread, with sales near 10K</a:t>
            </a:r>
            <a:endParaRPr lang="en-US" sz="1300" dirty="0"/>
          </a:p>
        </p:txBody>
      </p:sp>
      <p:sp>
        <p:nvSpPr>
          <p:cNvPr id="9" name="Text 6"/>
          <p:cNvSpPr/>
          <p:nvPr/>
        </p:nvSpPr>
        <p:spPr>
          <a:xfrm>
            <a:off x="7467600" y="3692922"/>
            <a:ext cx="40289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3F6E9A"/>
                </a:solidFill>
                <a:latin typeface="DM Sans" pitchFamily="34" charset="0"/>
                <a:ea typeface="DM Sans" pitchFamily="34" charset="-122"/>
                <a:cs typeface="DM Sans" pitchFamily="34" charset="-120"/>
              </a:rPr>
              <a:t>Why we chose it</a:t>
            </a:r>
            <a:endParaRPr lang="en-US" sz="1500" dirty="0"/>
          </a:p>
        </p:txBody>
      </p:sp>
      <p:sp>
        <p:nvSpPr>
          <p:cNvPr id="10" name="Text 7"/>
          <p:cNvSpPr/>
          <p:nvPr/>
        </p:nvSpPr>
        <p:spPr>
          <a:xfrm>
            <a:off x="7467600" y="4048522"/>
            <a:ext cx="4028948" cy="7187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651"/>
                </a:solidFill>
                <a:latin typeface="DM Sans" pitchFamily="34" charset="0"/>
                <a:ea typeface="DM Sans" pitchFamily="34" charset="-122"/>
                <a:cs typeface="DM Sans" pitchFamily="34" charset="-120"/>
              </a:rPr>
              <a:t>Ranking shows who leads, the matrix separates size from format, and box plots show spread beyond totals.</a:t>
            </a:r>
            <a:endParaRPr lang="en-US" sz="1300" dirty="0"/>
          </a:p>
        </p:txBody>
      </p:sp>
      <p:sp>
        <p:nvSpPr>
          <p:cNvPr id="11"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654"/>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DASHBOARD 3</a:t>
            </a:r>
            <a:endParaRPr lang="en-US" sz="1200" dirty="0"/>
          </a:p>
        </p:txBody>
      </p:sp>
      <p:sp>
        <p:nvSpPr>
          <p:cNvPr id="3" name="Text 1"/>
          <p:cNvSpPr/>
          <p:nvPr>
            <p:ph type="title"/>
          </p:nvPr>
        </p:nvSpPr>
        <p:spPr>
          <a:xfrm>
            <a:off x="812800" y="1102258"/>
            <a:ext cx="10883392" cy="492588"/>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Product and Pricing</a:t>
            </a:r>
            <a:endParaRPr lang="en-US" sz="3200" dirty="0"/>
          </a:p>
        </p:txBody>
      </p:sp>
      <p:sp>
        <p:nvSpPr>
          <p:cNvPr id="4" name="Shape 2"/>
          <p:cNvSpPr/>
          <p:nvPr/>
        </p:nvSpPr>
        <p:spPr>
          <a:xfrm>
            <a:off x="812800" y="1823442"/>
            <a:ext cx="6350000" cy="4019550"/>
          </a:xfrm>
          <a:prstGeom prst="roundRect">
            <a:avLst>
              <a:gd name="adj" fmla="val 1896"/>
            </a:avLst>
          </a:prstGeom>
          <a:solidFill>
            <a:srgbClr val="FFFFFF"/>
          </a:solidFill>
          <a:ln/>
        </p:spPr>
      </p:sp>
      <p:pic>
        <p:nvPicPr>
          <p:cNvPr id="5" name="Image 0" descr="Product and Pricing dashboard with visibility versus sales, sales band mix, price band performance and top items">    </p:cNvPr>
          <p:cNvPicPr>
            <a:picLocks noChangeAspect="1"/>
          </p:cNvPicPr>
          <p:nvPr/>
        </p:nvPicPr>
        <p:blipFill>
          <a:blip r:embed="rId1"/>
          <a:srcRect l="-34" r="-34" t="0" b="0"/>
          <a:stretch/>
        </p:blipFill>
        <p:spPr>
          <a:xfrm>
            <a:off x="819150" y="1829792"/>
            <a:ext cx="6337300" cy="4006850"/>
          </a:xfrm>
          <a:prstGeom prst="roundRect">
            <a:avLst>
              <a:gd name="adj" fmla="val 1743"/>
            </a:avLst>
          </a:prstGeom>
        </p:spPr>
      </p:pic>
      <p:sp>
        <p:nvSpPr>
          <p:cNvPr id="6" name="Shape 3"/>
          <p:cNvSpPr/>
          <p:nvPr/>
        </p:nvSpPr>
        <p:spPr>
          <a:xfrm>
            <a:off x="815975" y="1826617"/>
            <a:ext cx="6343650" cy="4013200"/>
          </a:xfrm>
          <a:prstGeom prst="roundRect">
            <a:avLst>
              <a:gd name="adj" fmla="val 1820"/>
            </a:avLst>
          </a:prstGeom>
          <a:noFill/>
          <a:ln w="6350">
            <a:solidFill>
              <a:srgbClr val="E2DDD0"/>
            </a:solidFill>
            <a:prstDash val="solid"/>
          </a:ln>
        </p:spPr>
      </p:sp>
      <p:sp>
        <p:nvSpPr>
          <p:cNvPr id="7" name="Text 4"/>
          <p:cNvSpPr/>
          <p:nvPr/>
        </p:nvSpPr>
        <p:spPr>
          <a:xfrm>
            <a:off x="7467600" y="1823442"/>
            <a:ext cx="40289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3F6E9A"/>
                </a:solidFill>
                <a:latin typeface="DM Sans" pitchFamily="34" charset="0"/>
                <a:ea typeface="DM Sans" pitchFamily="34" charset="-122"/>
                <a:cs typeface="DM Sans" pitchFamily="34" charset="-120"/>
              </a:rPr>
              <a:t>What it shows</a:t>
            </a:r>
            <a:endParaRPr lang="en-US" sz="1500" dirty="0"/>
          </a:p>
        </p:txBody>
      </p:sp>
      <p:sp>
        <p:nvSpPr>
          <p:cNvPr id="8" name="Text 5"/>
          <p:cNvSpPr/>
          <p:nvPr/>
        </p:nvSpPr>
        <p:spPr>
          <a:xfrm>
            <a:off x="7559294" y="2179042"/>
            <a:ext cx="3929634" cy="1412081"/>
          </a:xfrm>
          <a:prstGeom prst="rect">
            <a:avLst/>
          </a:prstGeom>
          <a:noFill/>
          <a:ln/>
        </p:spPr>
        <p:txBody>
          <a:bodyPr wrap="square" lIns="0" tIns="0" rIns="0" bIns="0" rtlCol="0" anchor="t">
            <a:normAutofit/>
          </a:bodyPr>
          <a:lstStyle/>
          <a:p>
            <a:pPr algn="l" marL="162306" indent="-162306">
              <a:lnSpc>
                <a:spcPts val="1820"/>
              </a:lnSpc>
              <a:buSzPct val="100000"/>
              <a:buChar char="•"/>
            </a:pPr>
            <a:r>
              <a:rPr lang="en-US" sz="1300" dirty="0">
                <a:solidFill>
                  <a:srgbClr val="3A4651"/>
                </a:solidFill>
                <a:latin typeface="DM Sans" pitchFamily="34" charset="0"/>
                <a:ea typeface="DM Sans" pitchFamily="34" charset="-122"/>
                <a:cs typeface="DM Sans" pitchFamily="34" charset="-120"/>
              </a:rPr>
              <a:t>Average sales fall sharply once visibility passes about 0.15, so more shelf space does not mean more sales</a:t>
            </a:r>
            <a:endParaRPr lang="en-US" sz="1300" dirty="0"/>
          </a:p>
          <a:p>
            <a:pPr algn="l" marL="162306" indent="-162306">
              <a:lnSpc>
                <a:spcPts val="1820"/>
              </a:lnSpc>
              <a:buSzPct val="100000"/>
              <a:buChar char="•"/>
            </a:pPr>
            <a:r>
              <a:rPr lang="en-US" sz="1300" dirty="0">
                <a:solidFill>
                  <a:srgbClr val="3A4651"/>
                </a:solidFill>
                <a:latin typeface="DM Sans" pitchFamily="34" charset="0"/>
                <a:ea typeface="DM Sans" pitchFamily="34" charset="-122"/>
                <a:cs typeface="DM Sans" pitchFamily="34" charset="-120"/>
              </a:rPr>
              <a:t>Average sales rise with price band; Premium (140 to 210) brings the most revenue</a:t>
            </a:r>
            <a:endParaRPr lang="en-US" sz="1300" dirty="0"/>
          </a:p>
          <a:p>
            <a:pPr algn="l" marL="162306" indent="-162306">
              <a:lnSpc>
                <a:spcPts val="1820"/>
              </a:lnSpc>
              <a:buSzPct val="100000"/>
              <a:buChar char="•"/>
            </a:pPr>
            <a:r>
              <a:rPr lang="en-US" sz="1300" dirty="0">
                <a:solidFill>
                  <a:srgbClr val="3A4651"/>
                </a:solidFill>
                <a:latin typeface="DM Sans" pitchFamily="34" charset="0"/>
                <a:ea typeface="DM Sans" pitchFamily="34" charset="-122"/>
                <a:cs typeface="DM Sans" pitchFamily="34" charset="-120"/>
              </a:rPr>
              <a:t>Grocery stores dominate the Low sales band</a:t>
            </a:r>
            <a:endParaRPr lang="en-US" sz="1300" dirty="0"/>
          </a:p>
        </p:txBody>
      </p:sp>
      <p:sp>
        <p:nvSpPr>
          <p:cNvPr id="9" name="Text 6"/>
          <p:cNvSpPr/>
          <p:nvPr/>
        </p:nvSpPr>
        <p:spPr>
          <a:xfrm>
            <a:off x="7467600" y="3692723"/>
            <a:ext cx="402894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3F6E9A"/>
                </a:solidFill>
                <a:latin typeface="DM Sans" pitchFamily="34" charset="0"/>
                <a:ea typeface="DM Sans" pitchFamily="34" charset="-122"/>
                <a:cs typeface="DM Sans" pitchFamily="34" charset="-120"/>
              </a:rPr>
              <a:t>Why we chose it</a:t>
            </a:r>
            <a:endParaRPr lang="en-US" sz="1500" dirty="0"/>
          </a:p>
        </p:txBody>
      </p:sp>
      <p:sp>
        <p:nvSpPr>
          <p:cNvPr id="10" name="Text 7"/>
          <p:cNvSpPr/>
          <p:nvPr/>
        </p:nvSpPr>
        <p:spPr>
          <a:xfrm>
            <a:off x="7467600" y="4048323"/>
            <a:ext cx="402894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A4651"/>
                </a:solidFill>
                <a:latin typeface="DM Sans" pitchFamily="34" charset="0"/>
                <a:ea typeface="DM Sans" pitchFamily="34" charset="-122"/>
                <a:cs typeface="DM Sans" pitchFamily="34" charset="-120"/>
              </a:rPr>
              <a:t>These views test the product factors the models use: shelf space, price and performance bands.</a:t>
            </a:r>
            <a:endParaRPr lang="en-US" sz="1300" dirty="0"/>
          </a:p>
        </p:txBody>
      </p:sp>
      <p:sp>
        <p:nvSpPr>
          <p:cNvPr id="11"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02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833A"/>
                </a:solidFill>
                <a:latin typeface="DM Sans" pitchFamily="34" charset="0"/>
                <a:ea typeface="DM Sans" pitchFamily="34" charset="-122"/>
                <a:cs typeface="DM Sans" pitchFamily="34" charset="-120"/>
              </a:rPr>
              <a:t>KEY FINDINGS</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4F1EA"/>
                </a:solidFill>
                <a:latin typeface="DM Sans" pitchFamily="34" charset="0"/>
                <a:ea typeface="DM Sans" pitchFamily="34" charset="-122"/>
                <a:cs typeface="DM Sans" pitchFamily="34" charset="-120"/>
              </a:rPr>
              <a:t>What the data told us</a:t>
            </a:r>
            <a:endParaRPr lang="en-US" sz="3200" dirty="0"/>
          </a:p>
        </p:txBody>
      </p:sp>
      <p:sp>
        <p:nvSpPr>
          <p:cNvPr id="4" name="Shape 2"/>
          <p:cNvSpPr/>
          <p:nvPr/>
        </p:nvSpPr>
        <p:spPr>
          <a:xfrm>
            <a:off x="812800" y="1937941"/>
            <a:ext cx="2489200" cy="0"/>
          </a:xfrm>
          <a:prstGeom prst="line">
            <a:avLst/>
          </a:prstGeom>
          <a:noFill/>
          <a:ln w="25400">
            <a:solidFill>
              <a:srgbClr val="E8833A"/>
            </a:solidFill>
            <a:prstDash val="solid"/>
          </a:ln>
        </p:spPr>
      </p:sp>
      <p:sp>
        <p:nvSpPr>
          <p:cNvPr id="5" name="Text 3"/>
          <p:cNvSpPr/>
          <p:nvPr/>
        </p:nvSpPr>
        <p:spPr>
          <a:xfrm>
            <a:off x="812800" y="2128441"/>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8833A"/>
                </a:solidFill>
                <a:latin typeface="DM Sans" pitchFamily="34" charset="0"/>
                <a:ea typeface="DM Sans" pitchFamily="34" charset="-122"/>
                <a:cs typeface="DM Sans" pitchFamily="34" charset="-120"/>
              </a:rPr>
              <a:t>69%</a:t>
            </a:r>
            <a:endParaRPr lang="en-US" sz="4800" dirty="0"/>
          </a:p>
        </p:txBody>
      </p:sp>
      <p:sp>
        <p:nvSpPr>
          <p:cNvPr id="6" name="Text 4"/>
          <p:cNvSpPr/>
          <p:nvPr/>
        </p:nvSpPr>
        <p:spPr>
          <a:xfrm>
            <a:off x="812800" y="2839641"/>
            <a:ext cx="256387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DM Sans" pitchFamily="34" charset="0"/>
                <a:ea typeface="DM Sans" pitchFamily="34" charset="-122"/>
                <a:cs typeface="DM Sans" pitchFamily="34" charset="-120"/>
              </a:rPr>
              <a:t>of sales come from Supermarket Type1 outlets</a:t>
            </a:r>
            <a:endParaRPr lang="en-US" sz="1400" dirty="0"/>
          </a:p>
        </p:txBody>
      </p:sp>
      <p:sp>
        <p:nvSpPr>
          <p:cNvPr id="7" name="Shape 5"/>
          <p:cNvSpPr/>
          <p:nvPr/>
        </p:nvSpPr>
        <p:spPr>
          <a:xfrm>
            <a:off x="3505200" y="1937941"/>
            <a:ext cx="2489200" cy="0"/>
          </a:xfrm>
          <a:prstGeom prst="line">
            <a:avLst/>
          </a:prstGeom>
          <a:noFill/>
          <a:ln w="25400">
            <a:solidFill>
              <a:srgbClr val="E8833A"/>
            </a:solidFill>
            <a:prstDash val="solid"/>
          </a:ln>
        </p:spPr>
      </p:sp>
      <p:sp>
        <p:nvSpPr>
          <p:cNvPr id="8" name="Text 6"/>
          <p:cNvSpPr/>
          <p:nvPr/>
        </p:nvSpPr>
        <p:spPr>
          <a:xfrm>
            <a:off x="3505200" y="2128441"/>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8833A"/>
                </a:solidFill>
                <a:latin typeface="DM Sans" pitchFamily="34" charset="0"/>
                <a:ea typeface="DM Sans" pitchFamily="34" charset="-122"/>
                <a:cs typeface="DM Sans" pitchFamily="34" charset="-120"/>
              </a:rPr>
              <a:t>19%</a:t>
            </a:r>
            <a:endParaRPr lang="en-US" sz="4800" dirty="0"/>
          </a:p>
        </p:txBody>
      </p:sp>
      <p:sp>
        <p:nvSpPr>
          <p:cNvPr id="9" name="Text 7"/>
          <p:cNvSpPr/>
          <p:nvPr/>
        </p:nvSpPr>
        <p:spPr>
          <a:xfrm>
            <a:off x="3505200" y="2839641"/>
            <a:ext cx="256387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DM Sans" pitchFamily="34" charset="0"/>
                <a:ea typeface="DM Sans" pitchFamily="34" charset="-122"/>
                <a:cs typeface="DM Sans" pitchFamily="34" charset="-120"/>
              </a:rPr>
              <a:t>come from one outlet, OUT027, the top performer</a:t>
            </a:r>
            <a:endParaRPr lang="en-US" sz="1400" dirty="0"/>
          </a:p>
        </p:txBody>
      </p:sp>
      <p:sp>
        <p:nvSpPr>
          <p:cNvPr id="10" name="Shape 8"/>
          <p:cNvSpPr/>
          <p:nvPr/>
        </p:nvSpPr>
        <p:spPr>
          <a:xfrm>
            <a:off x="6197600" y="1937941"/>
            <a:ext cx="2489200" cy="0"/>
          </a:xfrm>
          <a:prstGeom prst="line">
            <a:avLst/>
          </a:prstGeom>
          <a:noFill/>
          <a:ln w="25400">
            <a:solidFill>
              <a:srgbClr val="E8833A"/>
            </a:solidFill>
            <a:prstDash val="solid"/>
          </a:ln>
        </p:spPr>
      </p:sp>
      <p:sp>
        <p:nvSpPr>
          <p:cNvPr id="11" name="Text 9"/>
          <p:cNvSpPr/>
          <p:nvPr/>
        </p:nvSpPr>
        <p:spPr>
          <a:xfrm>
            <a:off x="6197600" y="2128441"/>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8833A"/>
                </a:solidFill>
                <a:latin typeface="DM Sans" pitchFamily="34" charset="0"/>
                <a:ea typeface="DM Sans" pitchFamily="34" charset="-122"/>
                <a:cs typeface="DM Sans" pitchFamily="34" charset="-120"/>
              </a:rPr>
              <a:t>~1%</a:t>
            </a:r>
            <a:endParaRPr lang="en-US" sz="4800" dirty="0"/>
          </a:p>
        </p:txBody>
      </p:sp>
      <p:sp>
        <p:nvSpPr>
          <p:cNvPr id="12" name="Text 10"/>
          <p:cNvSpPr/>
          <p:nvPr/>
        </p:nvSpPr>
        <p:spPr>
          <a:xfrm>
            <a:off x="6197600" y="2839641"/>
            <a:ext cx="256387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DM Sans" pitchFamily="34" charset="0"/>
                <a:ea typeface="DM Sans" pitchFamily="34" charset="-122"/>
                <a:cs typeface="DM Sans" pitchFamily="34" charset="-120"/>
              </a:rPr>
              <a:t>is what each grocery store contributes</a:t>
            </a:r>
            <a:endParaRPr lang="en-US" sz="1400" dirty="0"/>
          </a:p>
        </p:txBody>
      </p:sp>
      <p:sp>
        <p:nvSpPr>
          <p:cNvPr id="13" name="Shape 11"/>
          <p:cNvSpPr/>
          <p:nvPr/>
        </p:nvSpPr>
        <p:spPr>
          <a:xfrm>
            <a:off x="8890000" y="1937941"/>
            <a:ext cx="2489200" cy="0"/>
          </a:xfrm>
          <a:prstGeom prst="line">
            <a:avLst/>
          </a:prstGeom>
          <a:noFill/>
          <a:ln w="25400">
            <a:solidFill>
              <a:srgbClr val="E8833A"/>
            </a:solidFill>
            <a:prstDash val="solid"/>
          </a:ln>
        </p:spPr>
      </p:sp>
      <p:sp>
        <p:nvSpPr>
          <p:cNvPr id="14" name="Text 12"/>
          <p:cNvSpPr/>
          <p:nvPr/>
        </p:nvSpPr>
        <p:spPr>
          <a:xfrm>
            <a:off x="8890000" y="2128441"/>
            <a:ext cx="2563876"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E8833A"/>
                </a:solidFill>
                <a:latin typeface="DM Sans" pitchFamily="34" charset="0"/>
                <a:ea typeface="DM Sans" pitchFamily="34" charset="-122"/>
                <a:cs typeface="DM Sans" pitchFamily="34" charset="-120"/>
              </a:rPr>
              <a:t>56.4%</a:t>
            </a:r>
            <a:endParaRPr lang="en-US" sz="4800" dirty="0"/>
          </a:p>
        </p:txBody>
      </p:sp>
      <p:sp>
        <p:nvSpPr>
          <p:cNvPr id="15" name="Text 13"/>
          <p:cNvSpPr/>
          <p:nvPr/>
        </p:nvSpPr>
        <p:spPr>
          <a:xfrm>
            <a:off x="8890000" y="2839641"/>
            <a:ext cx="2563876" cy="52321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4F1EA"/>
                </a:solidFill>
                <a:latin typeface="DM Sans" pitchFamily="34" charset="0"/>
                <a:ea typeface="DM Sans" pitchFamily="34" charset="-122"/>
                <a:cs typeface="DM Sans" pitchFamily="34" charset="-120"/>
              </a:rPr>
              <a:t>tier accuracy, against 33.3% for a random guess</a:t>
            </a:r>
            <a:endParaRPr lang="en-US" sz="1400" dirty="0"/>
          </a:p>
        </p:txBody>
      </p:sp>
      <p:sp>
        <p:nvSpPr>
          <p:cNvPr id="16" name="Text 14"/>
          <p:cNvSpPr/>
          <p:nvPr/>
        </p:nvSpPr>
        <p:spPr>
          <a:xfrm>
            <a:off x="812800" y="3693058"/>
            <a:ext cx="91567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A9B6C2"/>
                </a:solidFill>
                <a:latin typeface="DM Sans" pitchFamily="34" charset="0"/>
                <a:ea typeface="DM Sans" pitchFamily="34" charset="-122"/>
                <a:cs typeface="DM Sans" pitchFamily="34" charset="-120"/>
              </a:rPr>
              <a:t>Store format and price band matter most, while extra shelf visibility does not lift sales on its own.</a:t>
            </a:r>
            <a:endParaRPr lang="en-US" sz="1500" dirty="0"/>
          </a:p>
        </p:txBody>
      </p:sp>
      <p:sp>
        <p:nvSpPr>
          <p:cNvPr id="17" name="Text 15"/>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2"/>
                </a:solidFill>
                <a:latin typeface="DM Sans" pitchFamily="34" charset="0"/>
                <a:ea typeface="DM Sans" pitchFamily="34" charset="-122"/>
                <a:cs typeface="DM Sans" pitchFamily="34" charset="-120"/>
              </a:rPr>
              <a:t>BigMart Sales Analytics · DAV Project</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C2"/>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3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3F6E9A"/>
                </a:solidFill>
                <a:latin typeface="DM Sans" pitchFamily="34" charset="0"/>
                <a:ea typeface="DM Sans" pitchFamily="34" charset="-122"/>
                <a:cs typeface="DM Sans" pitchFamily="34" charset="-120"/>
              </a:rPr>
              <a:t>CONCLUSION</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4202B"/>
                </a:solidFill>
                <a:latin typeface="DM Sans" pitchFamily="34" charset="0"/>
                <a:ea typeface="DM Sans" pitchFamily="34" charset="-122"/>
                <a:cs typeface="DM Sans" pitchFamily="34" charset="-120"/>
              </a:rPr>
              <a:t>Business value and next steps</a:t>
            </a:r>
            <a:endParaRPr lang="en-US" sz="3200" dirty="0"/>
          </a:p>
        </p:txBody>
      </p:sp>
      <p:sp>
        <p:nvSpPr>
          <p:cNvPr id="4" name="Shape 2"/>
          <p:cNvSpPr/>
          <p:nvPr/>
        </p:nvSpPr>
        <p:spPr>
          <a:xfrm>
            <a:off x="815975" y="1877616"/>
            <a:ext cx="5175250" cy="1978223"/>
          </a:xfrm>
          <a:prstGeom prst="roundRect">
            <a:avLst>
              <a:gd name="adj" fmla="val 4975"/>
            </a:avLst>
          </a:prstGeom>
          <a:solidFill>
            <a:srgbClr val="FFFDF8"/>
          </a:solidFill>
          <a:ln w="6350">
            <a:solidFill>
              <a:srgbClr val="E2DDD0"/>
            </a:solidFill>
            <a:prstDash val="solid"/>
          </a:ln>
        </p:spPr>
      </p:sp>
      <p:sp>
        <p:nvSpPr>
          <p:cNvPr id="5" name="Text 3"/>
          <p:cNvSpPr/>
          <p:nvPr/>
        </p:nvSpPr>
        <p:spPr>
          <a:xfrm>
            <a:off x="1071033" y="2132676"/>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F6E9A"/>
                </a:solidFill>
                <a:latin typeface="DM Sans" pitchFamily="34" charset="0"/>
                <a:ea typeface="DM Sans" pitchFamily="34" charset="-122"/>
                <a:cs typeface="DM Sans" pitchFamily="34" charset="-120"/>
              </a:rPr>
              <a:t>How BigMart can use it</a:t>
            </a:r>
            <a:endParaRPr lang="en-US" sz="1800" dirty="0"/>
          </a:p>
        </p:txBody>
      </p:sp>
      <p:sp>
        <p:nvSpPr>
          <p:cNvPr id="6" name="Text 4"/>
          <p:cNvSpPr/>
          <p:nvPr/>
        </p:nvSpPr>
        <p:spPr>
          <a:xfrm>
            <a:off x="1155615" y="2533985"/>
            <a:ext cx="4712885"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Plan demand and reorders from predicted sales</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Spot items likely to become low performers early</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Match shelf space and pricing to what sells</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Re-run the KNIME workflow on new sales files</a:t>
            </a:r>
            <a:endParaRPr lang="en-US" sz="1400" dirty="0"/>
          </a:p>
        </p:txBody>
      </p:sp>
      <p:sp>
        <p:nvSpPr>
          <p:cNvPr id="7" name="Shape 5"/>
          <p:cNvSpPr/>
          <p:nvPr/>
        </p:nvSpPr>
        <p:spPr>
          <a:xfrm>
            <a:off x="6200775" y="1877616"/>
            <a:ext cx="5175250" cy="1978223"/>
          </a:xfrm>
          <a:prstGeom prst="roundRect">
            <a:avLst>
              <a:gd name="adj" fmla="val 4975"/>
            </a:avLst>
          </a:prstGeom>
          <a:solidFill>
            <a:srgbClr val="FFFDF8"/>
          </a:solidFill>
          <a:ln w="6350">
            <a:solidFill>
              <a:srgbClr val="E2DDD0"/>
            </a:solidFill>
            <a:prstDash val="solid"/>
          </a:ln>
        </p:spPr>
      </p:sp>
      <p:sp>
        <p:nvSpPr>
          <p:cNvPr id="8" name="Text 6"/>
          <p:cNvSpPr/>
          <p:nvPr/>
        </p:nvSpPr>
        <p:spPr>
          <a:xfrm>
            <a:off x="6455833" y="2132676"/>
            <a:ext cx="4805087"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3F6E9A"/>
                </a:solidFill>
                <a:latin typeface="DM Sans" pitchFamily="34" charset="0"/>
                <a:ea typeface="DM Sans" pitchFamily="34" charset="-122"/>
                <a:cs typeface="DM Sans" pitchFamily="34" charset="-120"/>
              </a:rPr>
              <a:t>Next steps</a:t>
            </a:r>
            <a:endParaRPr lang="en-US" sz="1800" dirty="0"/>
          </a:p>
        </p:txBody>
      </p:sp>
      <p:sp>
        <p:nvSpPr>
          <p:cNvPr id="9" name="Text 7"/>
          <p:cNvSpPr/>
          <p:nvPr/>
        </p:nvSpPr>
        <p:spPr>
          <a:xfrm>
            <a:off x="6540415" y="2533985"/>
            <a:ext cx="4712885" cy="1092200"/>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Tune the Random Forest depth and tree count</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Compare against XGBoost or LightGBM</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Add residual plots and ROC curves</a:t>
            </a:r>
            <a:endParaRPr lang="en-US" sz="1400" dirty="0"/>
          </a:p>
          <a:p>
            <a:pPr algn="l" marL="169418" indent="-169418">
              <a:lnSpc>
                <a:spcPts val="2100"/>
              </a:lnSpc>
              <a:buSzPct val="100000"/>
              <a:buChar char="•"/>
            </a:pPr>
            <a:r>
              <a:rPr lang="en-US" sz="1400" dirty="0">
                <a:solidFill>
                  <a:srgbClr val="3A4651"/>
                </a:solidFill>
                <a:latin typeface="DM Sans" pitchFamily="34" charset="0"/>
                <a:ea typeface="DM Sans" pitchFamily="34" charset="-122"/>
                <a:cs typeface="DM Sans" pitchFamily="34" charset="-120"/>
              </a:rPr>
              <a:t>Impute visibility by item category</a:t>
            </a:r>
            <a:endParaRPr lang="en-US" sz="1400" dirty="0"/>
          </a:p>
        </p:txBody>
      </p:sp>
      <p:sp>
        <p:nvSpPr>
          <p:cNvPr id="10"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672"/>
                </a:solidFill>
                <a:latin typeface="DM Sans" pitchFamily="34" charset="0"/>
                <a:ea typeface="DM Sans" pitchFamily="34" charset="-122"/>
                <a:cs typeface="DM Sans" pitchFamily="34" charset="-120"/>
              </a:rPr>
              <a:t>BigMart Sales Analytics · DAV Project</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672"/>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theme/theme1.xml><?xml version="1.0" encoding="utf-8"?>
<a:theme xmlns:a="http://schemas.openxmlformats.org/drawingml/2006/main" name="BigMart Sales Analytics">
  <a:themeElements>
    <a:clrScheme name="BigMart Sales Analytics">
      <a:dk1>
        <a:srgbClr val="14202B"/>
      </a:dk1>
      <a:lt1>
        <a:srgbClr val="F6F3EC"/>
      </a:lt1>
      <a:dk2>
        <a:srgbClr val="4D555B"/>
      </a:dk2>
      <a:lt2>
        <a:srgbClr val="DFDED9"/>
      </a:lt2>
      <a:accent1>
        <a:srgbClr val="3F6E9A"/>
      </a:accent1>
      <a:accent2>
        <a:srgbClr val="E8833A"/>
      </a:accent2>
      <a:accent3>
        <a:srgbClr val="5B6672"/>
      </a:accent3>
      <a:accent4>
        <a:srgbClr val="3A4651"/>
      </a:accent4>
      <a:accent5>
        <a:srgbClr val="A9B6C2"/>
      </a:accent5>
      <a:accent6>
        <a:srgbClr val="9AA0A6"/>
      </a:accent6>
      <a:hlink>
        <a:srgbClr val="0563C1"/>
      </a:hlink>
      <a:folHlink>
        <a:srgbClr val="954F72"/>
      </a:folHlink>
    </a:clrScheme>
    <a:fontScheme name="BigMart Sales Analytic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BigMart Sales Analytics</dc:title>
  <dc:subject/>
  <dc:creator/>
  <cp:lastModifiedBy/>
  <cp:revision>1</cp:revision>
  <dcterms:created xsi:type="dcterms:W3CDTF">2026-10-08T08:37:06Z</dcterms:created>
  <dcterms:modified xsi:type="dcterms:W3CDTF">2026-10-08T08:37:06Z</dcterms:modified>
</cp:coreProperties>
</file>